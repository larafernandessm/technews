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60" r:id="rId6"/>
    <p:sldId id="261" r:id="rId7"/>
    <p:sldId id="262" r:id="rId8"/>
    <p:sldId id="263" r:id="rId9"/>
    <p:sldId id="264" r:id="rId1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312e9a0-d4bb-c7e0-4d73-c14fa5879e93}">
          <p14:sldIdLst>
            <p14:sldId id="256"/>
          </p14:sldIdLst>
        </p14:section>
        <p14:section name="HTML" id="{1ef48d13-5b70-a926-5ec3-8b0b9cd04a8d}">
          <p14:sldIdLst>
            <p14:sldId id="258"/>
            <p14:sldId id="260"/>
            <p14:sldId id="261"/>
            <p14:sldId id="262"/>
            <p14:sldId id="263"/>
            <p14:sldId id="264"/>
          </p14:sldIdLst>
        </p14:section>
        <p14:section name="Fechamento" id="{46c398fb-6adf-8948-ad5f-29f210a78078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projeto: um portal de notícias de tecnologia feito só com HTML semântico e, depois, estilizado com CSS moderno. A ideia da aula é ler o código tag por tag e ver o que cada uma gera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esqueleto antes dos detalhes. Cada clique revela uma região da página com a tag que a define. Reforce: a tag descreve o significado do conteúdo, e o CSS cuida da aparência.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&lt;header&gt; agrupa a identidade do site. Só existe um &lt;h1&gt; por página: é o título mais importante. &lt;strong&gt; marca importância (negrito) e &lt;em&gt; marca ênfase (itálico): são semânticos, diferentes de &lt;b&gt; e &lt;i&gt;.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&lt;main&gt; só aparece uma vez e guarda o conteúdo principal. &lt;article&gt; é um conteúdo independente: faria sentido sozinho, como uma notícia compartilhada. &lt;time datetime&gt; mostra a data para pessoas e entrega a data em formato de máquina para buscadores e agendas.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&lt;details&gt; cria um conteúdo recolhível sem nenhuma linha de JavaScript. O &lt;summary&gt; é a parte sempre visível e clicável; o resto só aparece quando o usuário abre. O &amp;rarr; vira a seta →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&lt;section&gt; agrupa um bloco temático com seu próprio título. O &lt;iframe&gt; é uma janela para outra página: aqui, o player do YouTube. Os atributos width e height dão o tamanho; title descreve o vídeo para leitores de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&lt;form&gt; empacota os campos e define para onde (action) e como (method) os dados vão. O for do &lt;label&gt; precisa ser igual ao id do &lt;input&gt;: assim, clicar no texto foca o campo. type="email" e required validam sem JavaScript: é daí que vem o balão “Preencha este campo.” do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Volte ao resultado final e peça para a turma apontar cada tag no print antes de clicar. Cada clique confirma uma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de todas as tags vistas, agrupadas pela função. Proposta: os alunos escrevem o CSS do desafio com no máximo 50 linhas e comparam com os 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UDO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rgbClr val="A855F7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TechNews Today · HTML semântico + CSS moderno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bl_1"/>
          <p:cNvSpPr txBox="1"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</a:rPr>
              <a:t>DESENVOLVIMENTO WEB · HTML5 + CSS3</a:t>
            </a:r>
            <a:endParaRPr lang="en-US" sz="1400" dirty="0"/>
          </a:p>
        </p:txBody>
      </p:sp>
      <p:sp>
        <p:nvSpPr>
          <p:cNvPr id="4" name="ttl_2"/>
          <p:cNvSpPr txBox="1"/>
          <p:nvPr/>
        </p:nvSpPr>
        <p:spPr>
          <a:xfrm>
            <a:off x="640080" y="20116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18CF8"/>
                </a:solidFill>
              </a:rPr>
              <a:t>T</a:t>
            </a:r>
            <a:pPr indent="0" marL="0">
              <a:buNone/>
            </a:pPr>
            <a:r>
              <a:rPr lang="en-US" sz="4600" b="1" dirty="0">
                <a:solidFill>
                  <a:srgbClr val="8987F1"/>
                </a:solidFill>
              </a:rPr>
              <a:t>e</a:t>
            </a:r>
            <a:pPr indent="0" marL="0">
              <a:buNone/>
            </a:pPr>
            <a:r>
              <a:rPr lang="en-US" sz="4600" b="1" dirty="0">
                <a:solidFill>
                  <a:srgbClr val="9182E9"/>
                </a:solidFill>
              </a:rPr>
              <a:t>c</a:t>
            </a:r>
            <a:pPr indent="0" marL="0">
              <a:buNone/>
            </a:pPr>
            <a:r>
              <a:rPr lang="en-US" sz="4600" b="1" dirty="0">
                <a:solidFill>
                  <a:srgbClr val="9A7CE2"/>
                </a:solidFill>
              </a:rPr>
              <a:t>h</a:t>
            </a:r>
            <a:pPr indent="0" marL="0">
              <a:buNone/>
            </a:pPr>
            <a:r>
              <a:rPr lang="en-US" sz="4600" b="1" dirty="0">
                <a:solidFill>
                  <a:srgbClr val="A277DB"/>
                </a:solidFill>
              </a:rPr>
              <a:t>N</a:t>
            </a:r>
            <a:pPr indent="0" marL="0">
              <a:buNone/>
            </a:pPr>
            <a:r>
              <a:rPr lang="en-US" sz="4600" b="1" dirty="0">
                <a:solidFill>
                  <a:srgbClr val="AA72D3"/>
                </a:solidFill>
              </a:rPr>
              <a:t>e</a:t>
            </a:r>
            <a:pPr indent="0" marL="0">
              <a:buNone/>
            </a:pPr>
            <a:r>
              <a:rPr lang="en-US" sz="4600" b="1" dirty="0">
                <a:solidFill>
                  <a:srgbClr val="B26DCC"/>
                </a:solidFill>
              </a:rPr>
              <a:t>w</a:t>
            </a:r>
            <a:pPr indent="0" marL="0">
              <a:buNone/>
            </a:pPr>
            <a:r>
              <a:rPr lang="en-US" sz="4600" b="1" dirty="0">
                <a:solidFill>
                  <a:srgbClr val="BB67C5"/>
                </a:solidFill>
              </a:rPr>
              <a:t>s</a:t>
            </a:r>
            <a:pPr indent="0" marL="0">
              <a:buNone/>
            </a:pPr>
            <a:r>
              <a:rPr lang="en-US" sz="4600" b="1" dirty="0">
                <a:solidFill>
                  <a:srgbClr val="C362BE"/>
                </a:solidFill>
              </a:rPr>
              <a:t> </a:t>
            </a:r>
            <a:pPr indent="0" marL="0">
              <a:buNone/>
            </a:pPr>
            <a:r>
              <a:rPr lang="en-US" sz="4600" b="1" dirty="0">
                <a:solidFill>
                  <a:srgbClr val="CB5DB6"/>
                </a:solidFill>
              </a:rPr>
              <a:t>T</a:t>
            </a:r>
            <a:pPr indent="0" marL="0">
              <a:buNone/>
            </a:pPr>
            <a:r>
              <a:rPr lang="en-US" sz="4600" b="1" dirty="0">
                <a:solidFill>
                  <a:srgbClr val="D358AF"/>
                </a:solidFill>
              </a:rPr>
              <a:t>o</a:t>
            </a:r>
            <a:pPr indent="0" marL="0">
              <a:buNone/>
            </a:pPr>
            <a:r>
              <a:rPr lang="en-US" sz="4600" b="1" dirty="0">
                <a:solidFill>
                  <a:srgbClr val="DC52A8"/>
                </a:solidFill>
              </a:rPr>
              <a:t>d</a:t>
            </a:r>
            <a:pPr indent="0" marL="0">
              <a:buNone/>
            </a:pPr>
            <a:r>
              <a:rPr lang="en-US" sz="4600" b="1" dirty="0">
                <a:solidFill>
                  <a:srgbClr val="E44DA0"/>
                </a:solidFill>
              </a:rPr>
              <a:t>a</a:t>
            </a:r>
            <a:pPr indent="0" marL="0">
              <a:buNone/>
            </a:pPr>
            <a:r>
              <a:rPr lang="en-US" sz="4600" b="1" dirty="0">
                <a:solidFill>
                  <a:srgbClr val="EC4899"/>
                </a:solidFill>
              </a:rPr>
              <a:t>y</a:t>
            </a:r>
            <a:endParaRPr lang="en-US" sz="4600" dirty="0"/>
          </a:p>
        </p:txBody>
      </p:sp>
      <p:sp>
        <p:nvSpPr>
          <p:cNvPr id="5" name="lbl_3"/>
          <p:cNvSpPr txBox="1"/>
          <p:nvPr/>
        </p:nvSpPr>
        <p:spPr>
          <a:xfrm>
            <a:off x="640080" y="3200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E4E7"/>
                </a:solidFill>
              </a:rPr>
              <a:t>Anatomia de um portal de notícias: cada tag explicada, do código à tela.</a:t>
            </a:r>
            <a:endParaRPr lang="en-US" sz="2000" dirty="0"/>
          </a:p>
        </p:txBody>
      </p:sp>
      <p:sp>
        <p:nvSpPr>
          <p:cNvPr id="6" name="chip_4"/>
          <p:cNvSpPr/>
          <p:nvPr/>
        </p:nvSpPr>
        <p:spPr>
          <a:xfrm>
            <a:off x="640080" y="44348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7" name="chip_5"/>
          <p:cNvSpPr/>
          <p:nvPr/>
        </p:nvSpPr>
        <p:spPr>
          <a:xfrm>
            <a:off x="2240280" y="44348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200" dirty="0"/>
          </a:p>
        </p:txBody>
      </p:sp>
      <p:sp>
        <p:nvSpPr>
          <p:cNvPr id="8" name="chip_6"/>
          <p:cNvSpPr/>
          <p:nvPr/>
        </p:nvSpPr>
        <p:spPr>
          <a:xfrm>
            <a:off x="3840480" y="44348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&lt;details&gt;</a:t>
            </a:r>
            <a:endParaRPr lang="en-US" sz="1200" dirty="0"/>
          </a:p>
        </p:txBody>
      </p:sp>
      <p:sp>
        <p:nvSpPr>
          <p:cNvPr id="9" name="chip_7"/>
          <p:cNvSpPr/>
          <p:nvPr/>
        </p:nvSpPr>
        <p:spPr>
          <a:xfrm>
            <a:off x="640080" y="493776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</a:t>
            </a:r>
            <a:endParaRPr lang="en-US" sz="1200" dirty="0"/>
          </a:p>
        </p:txBody>
      </p:sp>
      <p:sp>
        <p:nvSpPr>
          <p:cNvPr id="10" name="chip_8"/>
          <p:cNvSpPr/>
          <p:nvPr/>
        </p:nvSpPr>
        <p:spPr>
          <a:xfrm>
            <a:off x="2240280" y="493776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</p:txBody>
      </p:sp>
      <p:sp>
        <p:nvSpPr>
          <p:cNvPr id="11" name="chip_9"/>
          <p:cNvSpPr/>
          <p:nvPr/>
        </p:nvSpPr>
        <p:spPr>
          <a:xfrm>
            <a:off x="3840480" y="493776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12" name="glow_10"/>
          <p:cNvSpPr/>
          <p:nvPr/>
        </p:nvSpPr>
        <p:spPr>
          <a:xfrm>
            <a:off x="6949440" y="1188720"/>
            <a:ext cx="4572000" cy="45720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13" name="shot_11" descr="sit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17320"/>
            <a:ext cx="5349240" cy="373989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</a:rPr>
              <a:t>VISÃO GERAL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 esqueleto semântico da página</a:t>
            </a:r>
            <a:endParaRPr lang="en-US" sz="3400" dirty="0"/>
          </a:p>
        </p:txBody>
      </p:sp>
      <p:sp>
        <p:nvSpPr>
          <p:cNvPr id="5" name="box_42"/>
          <p:cNvSpPr/>
          <p:nvPr/>
        </p:nvSpPr>
        <p:spPr>
          <a:xfrm>
            <a:off x="502920" y="1417320"/>
            <a:ext cx="6583680" cy="4892040"/>
          </a:xfrm>
          <a:prstGeom prst="roundRect">
            <a:avLst>
              <a:gd name="adj" fmla="val 1869"/>
            </a:avLst>
          </a:prstGeom>
          <a:solidFill>
            <a:srgbClr val="0F163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6" name="lbl_43"/>
          <p:cNvSpPr txBox="1"/>
          <p:nvPr/>
        </p:nvSpPr>
        <p:spPr>
          <a:xfrm>
            <a:off x="64008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</p:txBody>
      </p:sp>
      <p:sp>
        <p:nvSpPr>
          <p:cNvPr id="7" name="box_44"/>
          <p:cNvSpPr/>
          <p:nvPr/>
        </p:nvSpPr>
        <p:spPr>
          <a:xfrm>
            <a:off x="731520" y="1783080"/>
            <a:ext cx="6126480" cy="685800"/>
          </a:xfrm>
          <a:prstGeom prst="roundRect">
            <a:avLst>
              <a:gd name="adj" fmla="val 13333"/>
            </a:avLst>
          </a:prstGeom>
          <a:solidFill>
            <a:srgbClr val="A855F7">
              <a:alpha val="18000"/>
            </a:srgbClr>
          </a:solidFill>
          <a:ln w="19050">
            <a:solidFill>
              <a:srgbClr val="A855F7"/>
            </a:solidFill>
            <a:prstDash val="dash"/>
          </a:ln>
        </p:spPr>
      </p:sp>
      <p:sp>
        <p:nvSpPr>
          <p:cNvPr id="8" name="lbl_45"/>
          <p:cNvSpPr txBox="1"/>
          <p:nvPr/>
        </p:nvSpPr>
        <p:spPr>
          <a:xfrm>
            <a:off x="868680" y="18562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</a:rPr>
              <a:t>   logo e frase de destaque</a:t>
            </a:r>
            <a:endParaRPr lang="en-US" sz="1400" dirty="0"/>
          </a:p>
        </p:txBody>
      </p:sp>
      <p:sp>
        <p:nvSpPr>
          <p:cNvPr id="9" name="box_46"/>
          <p:cNvSpPr/>
          <p:nvPr/>
        </p:nvSpPr>
        <p:spPr>
          <a:xfrm>
            <a:off x="731520" y="2606040"/>
            <a:ext cx="6126480" cy="2926080"/>
          </a:xfrm>
          <a:prstGeom prst="roundRect">
            <a:avLst>
              <a:gd name="adj" fmla="val 3125"/>
            </a:avLst>
          </a:prstGeom>
          <a:solidFill>
            <a:srgbClr val="6366F1">
              <a:alpha val="18000"/>
            </a:srgbClr>
          </a:solidFill>
          <a:ln w="19050">
            <a:solidFill>
              <a:srgbClr val="6366F1"/>
            </a:solidFill>
            <a:prstDash val="dash"/>
          </a:ln>
        </p:spPr>
      </p:sp>
      <p:sp>
        <p:nvSpPr>
          <p:cNvPr id="10" name="lbl_47"/>
          <p:cNvSpPr txBox="1"/>
          <p:nvPr/>
        </p:nvSpPr>
        <p:spPr>
          <a:xfrm>
            <a:off x="868680" y="26791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</a:rPr>
              <a:t>   conteúdo principal</a:t>
            </a:r>
            <a:endParaRPr lang="en-US" sz="1400" dirty="0"/>
          </a:p>
        </p:txBody>
      </p:sp>
      <p:sp>
        <p:nvSpPr>
          <p:cNvPr id="11" name="box_48"/>
          <p:cNvSpPr/>
          <p:nvPr/>
        </p:nvSpPr>
        <p:spPr>
          <a:xfrm>
            <a:off x="914400" y="301752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60A5FA">
              <a:alpha val="18000"/>
            </a:srgbClr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12" name="lbl_49"/>
          <p:cNvSpPr txBox="1"/>
          <p:nvPr/>
        </p:nvSpPr>
        <p:spPr>
          <a:xfrm>
            <a:off x="10515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</a:rPr>
              <a:t>   notícia completa</a:t>
            </a:r>
            <a:endParaRPr lang="en-US" sz="1400" dirty="0"/>
          </a:p>
        </p:txBody>
      </p:sp>
      <p:sp>
        <p:nvSpPr>
          <p:cNvPr id="13" name="box_50"/>
          <p:cNvSpPr/>
          <p:nvPr/>
        </p:nvSpPr>
        <p:spPr>
          <a:xfrm>
            <a:off x="914400" y="420624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DB2777">
              <a:alpha val="18000"/>
            </a:srgbClr>
          </a:solidFill>
          <a:ln w="19050">
            <a:solidFill>
              <a:srgbClr val="DB2777"/>
            </a:solidFill>
            <a:prstDash val="dash"/>
          </a:ln>
        </p:spPr>
      </p:sp>
      <p:sp>
        <p:nvSpPr>
          <p:cNvPr id="14" name="lbl_51"/>
          <p:cNvSpPr txBox="1"/>
          <p:nvPr/>
        </p:nvSpPr>
        <p:spPr>
          <a:xfrm>
            <a:off x="1051560" y="4279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</a:rPr>
              <a:t>   vídeo</a:t>
            </a:r>
            <a:endParaRPr lang="en-US" sz="1400" dirty="0"/>
          </a:p>
        </p:txBody>
      </p:sp>
      <p:sp>
        <p:nvSpPr>
          <p:cNvPr id="15" name="box_52"/>
          <p:cNvSpPr/>
          <p:nvPr/>
        </p:nvSpPr>
        <p:spPr>
          <a:xfrm>
            <a:off x="3840480" y="420624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F59E0B">
              <a:alpha val="18000"/>
            </a:srgbClr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6" name="lbl_53"/>
          <p:cNvSpPr txBox="1"/>
          <p:nvPr/>
        </p:nvSpPr>
        <p:spPr>
          <a:xfrm>
            <a:off x="397764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</a:rPr>
              <a:t>   newsletter</a:t>
            </a:r>
            <a:endParaRPr lang="en-US" sz="1400" dirty="0"/>
          </a:p>
        </p:txBody>
      </p:sp>
      <p:sp>
        <p:nvSpPr>
          <p:cNvPr id="17" name="box_54"/>
          <p:cNvSpPr/>
          <p:nvPr/>
        </p:nvSpPr>
        <p:spPr>
          <a:xfrm>
            <a:off x="731520" y="5623560"/>
            <a:ext cx="6126480" cy="548640"/>
          </a:xfrm>
          <a:prstGeom prst="roundRect">
            <a:avLst>
              <a:gd name="adj" fmla="val 16667"/>
            </a:avLst>
          </a:prstGeom>
          <a:solidFill>
            <a:srgbClr val="34D399">
              <a:alpha val="18000"/>
            </a:srgbClr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18" name="lbl_55"/>
          <p:cNvSpPr txBox="1"/>
          <p:nvPr/>
        </p:nvSpPr>
        <p:spPr>
          <a:xfrm>
            <a:off x="868680" y="56967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</a:rPr>
              <a:t>   créditos e contato</a:t>
            </a:r>
            <a:endParaRPr lang="en-US" sz="1400" dirty="0"/>
          </a:p>
        </p:txBody>
      </p:sp>
      <p:sp>
        <p:nvSpPr>
          <p:cNvPr id="19" name="lbl_56"/>
          <p:cNvSpPr txBox="1"/>
          <p:nvPr/>
        </p:nvSpPr>
        <p:spPr>
          <a:xfrm>
            <a:off x="7452360" y="1463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Semântica = significado</a:t>
            </a:r>
            <a:endParaRPr lang="en-US" sz="2200" dirty="0"/>
          </a:p>
        </p:txBody>
      </p:sp>
      <p:sp>
        <p:nvSpPr>
          <p:cNvPr id="20" name="lbl_57"/>
          <p:cNvSpPr txBox="1"/>
          <p:nvPr/>
        </p:nvSpPr>
        <p:spPr>
          <a:xfrm>
            <a:off x="7452360" y="1920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Cada tag diz o que o conteúdo é, não como ele aparece. A aparência fica com o CSS.</a:t>
            </a:r>
            <a:endParaRPr lang="en-US" sz="1500" dirty="0"/>
          </a:p>
        </p:txBody>
      </p:sp>
      <p:sp>
        <p:nvSpPr>
          <p:cNvPr id="21" name="icbg_58"/>
          <p:cNvSpPr/>
          <p:nvPr/>
        </p:nvSpPr>
        <p:spPr>
          <a:xfrm>
            <a:off x="7452360" y="301752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2" name="ic_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380" y="3177540"/>
            <a:ext cx="320040" cy="320040"/>
          </a:xfrm>
          <a:prstGeom prst="rect">
            <a:avLst/>
          </a:prstGeom>
        </p:spPr>
      </p:pic>
      <p:sp>
        <p:nvSpPr>
          <p:cNvPr id="23" name="lbl_60"/>
          <p:cNvSpPr txBox="1"/>
          <p:nvPr/>
        </p:nvSpPr>
        <p:spPr>
          <a:xfrm>
            <a:off x="8275320" y="29992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Acessibilidade</a:t>
            </a:r>
            <a:endParaRPr lang="en-US" sz="1700" dirty="0"/>
          </a:p>
        </p:txBody>
      </p:sp>
      <p:sp>
        <p:nvSpPr>
          <p:cNvPr id="24" name="lbl_61"/>
          <p:cNvSpPr txBox="1"/>
          <p:nvPr/>
        </p:nvSpPr>
        <p:spPr>
          <a:xfrm>
            <a:off x="8275320" y="33284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Leitores de tela navegam por regiões</a:t>
            </a:r>
            <a:endParaRPr lang="en-US" sz="1400" dirty="0"/>
          </a:p>
        </p:txBody>
      </p:sp>
      <p:sp>
        <p:nvSpPr>
          <p:cNvPr id="25" name="icbg_62"/>
          <p:cNvSpPr/>
          <p:nvPr/>
        </p:nvSpPr>
        <p:spPr>
          <a:xfrm>
            <a:off x="7452360" y="4069080"/>
            <a:ext cx="640080" cy="6400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6" name="ic_6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80" y="4229100"/>
            <a:ext cx="320040" cy="320040"/>
          </a:xfrm>
          <a:prstGeom prst="rect">
            <a:avLst/>
          </a:prstGeom>
        </p:spPr>
      </p:pic>
      <p:sp>
        <p:nvSpPr>
          <p:cNvPr id="27" name="lbl_64"/>
          <p:cNvSpPr txBox="1"/>
          <p:nvPr/>
        </p:nvSpPr>
        <p:spPr>
          <a:xfrm>
            <a:off x="8275320" y="40507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SEO</a:t>
            </a:r>
            <a:endParaRPr lang="en-US" sz="1700" dirty="0"/>
          </a:p>
        </p:txBody>
      </p:sp>
      <p:sp>
        <p:nvSpPr>
          <p:cNvPr id="28" name="lbl_65"/>
          <p:cNvSpPr txBox="1"/>
          <p:nvPr/>
        </p:nvSpPr>
        <p:spPr>
          <a:xfrm>
            <a:off x="8275320" y="43799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Buscadores entendem a estrutura</a:t>
            </a:r>
            <a:endParaRPr lang="en-US" sz="1400" dirty="0"/>
          </a:p>
        </p:txBody>
      </p:sp>
      <p:sp>
        <p:nvSpPr>
          <p:cNvPr id="29" name="icbg_66"/>
          <p:cNvSpPr/>
          <p:nvPr/>
        </p:nvSpPr>
        <p:spPr>
          <a:xfrm>
            <a:off x="7452360" y="5120640"/>
            <a:ext cx="640080" cy="64008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30" name="ic_6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5280660"/>
            <a:ext cx="320040" cy="320040"/>
          </a:xfrm>
          <a:prstGeom prst="rect">
            <a:avLst/>
          </a:prstGeom>
        </p:spPr>
      </p:pic>
      <p:sp>
        <p:nvSpPr>
          <p:cNvPr id="31" name="lbl_68"/>
          <p:cNvSpPr txBox="1"/>
          <p:nvPr/>
        </p:nvSpPr>
        <p:spPr>
          <a:xfrm>
            <a:off x="8275320" y="5102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Manutenção</a:t>
            </a:r>
            <a:endParaRPr lang="en-US" sz="1700" dirty="0"/>
          </a:p>
        </p:txBody>
      </p:sp>
      <p:sp>
        <p:nvSpPr>
          <p:cNvPr id="32" name="lbl_69"/>
          <p:cNvSpPr txBox="1"/>
          <p:nvPr/>
        </p:nvSpPr>
        <p:spPr>
          <a:xfrm>
            <a:off x="8275320" y="54315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Código fácil de ler e estilizar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</a:rPr>
              <a:t>02 · CONTEÚDO SEMÂNTICO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&lt;header&gt;: o cabeçalho do portal</a:t>
            </a:r>
            <a:endParaRPr lang="en-US" sz="3400" dirty="0"/>
          </a:p>
        </p:txBody>
      </p:sp>
      <p:sp>
        <p:nvSpPr>
          <p:cNvPr id="5" name="codecard_106"/>
          <p:cNvSpPr/>
          <p:nvPr/>
        </p:nvSpPr>
        <p:spPr>
          <a:xfrm>
            <a:off x="502920" y="1371600"/>
            <a:ext cx="5806440" cy="1691640"/>
          </a:xfrm>
          <a:prstGeom prst="roundRect">
            <a:avLst>
              <a:gd name="adj" fmla="val 6486"/>
            </a:avLst>
          </a:prstGeom>
          <a:solidFill>
            <a:srgbClr val="0F163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dot_107"/>
          <p:cNvSpPr/>
          <p:nvPr/>
        </p:nvSpPr>
        <p:spPr>
          <a:xfrm>
            <a:off x="704088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_108"/>
          <p:cNvSpPr/>
          <p:nvPr/>
        </p:nvSpPr>
        <p:spPr>
          <a:xfrm>
            <a:off x="886968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_109"/>
          <p:cNvSpPr/>
          <p:nvPr/>
        </p:nvSpPr>
        <p:spPr>
          <a:xfrm>
            <a:off x="1069848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file_110"/>
          <p:cNvSpPr txBox="1"/>
          <p:nvPr/>
        </p:nvSpPr>
        <p:spPr>
          <a:xfrm>
            <a:off x="1371600" y="1444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0" name="hl_111"/>
          <p:cNvSpPr/>
          <p:nvPr/>
        </p:nvSpPr>
        <p:spPr>
          <a:xfrm>
            <a:off x="612648" y="1769364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1" name="hl_112"/>
          <p:cNvSpPr/>
          <p:nvPr/>
        </p:nvSpPr>
        <p:spPr>
          <a:xfrm>
            <a:off x="612648" y="2647188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2" name="hl_113"/>
          <p:cNvSpPr/>
          <p:nvPr/>
        </p:nvSpPr>
        <p:spPr>
          <a:xfrm>
            <a:off x="612648" y="1988820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3" name="hl_114"/>
          <p:cNvSpPr/>
          <p:nvPr/>
        </p:nvSpPr>
        <p:spPr>
          <a:xfrm>
            <a:off x="612648" y="2208276"/>
            <a:ext cx="5586984" cy="466344"/>
          </a:xfrm>
          <a:prstGeom prst="roundRect">
            <a:avLst>
              <a:gd name="adj" fmla="val 9804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4" name="hl_115"/>
          <p:cNvSpPr/>
          <p:nvPr/>
        </p:nvSpPr>
        <p:spPr>
          <a:xfrm>
            <a:off x="612648" y="2208276"/>
            <a:ext cx="5586984" cy="466344"/>
          </a:xfrm>
          <a:prstGeom prst="roundRect">
            <a:avLst>
              <a:gd name="adj" fmla="val 9804"/>
            </a:avLst>
          </a:prstGeom>
          <a:solidFill>
            <a:srgbClr val="F59E0B">
              <a:alpha val="38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5" name="code_116"/>
          <p:cNvSpPr txBox="1"/>
          <p:nvPr/>
        </p:nvSpPr>
        <p:spPr>
          <a:xfrm>
            <a:off x="731520" y="1783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"cabecalho"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"logo"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📱 TechNews Today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"tagline"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últimas novidades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do mundo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16" name="rowbg_117"/>
          <p:cNvSpPr/>
          <p:nvPr/>
        </p:nvSpPr>
        <p:spPr>
          <a:xfrm>
            <a:off x="502920" y="326440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rowtag_118"/>
          <p:cNvSpPr txBox="1"/>
          <p:nvPr/>
        </p:nvSpPr>
        <p:spPr>
          <a:xfrm>
            <a:off x="640080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18" name="rowdesc_119"/>
          <p:cNvSpPr txBox="1"/>
          <p:nvPr/>
        </p:nvSpPr>
        <p:spPr>
          <a:xfrm>
            <a:off x="2240280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Agrupa a introdução do site: logo, nome e slogan.</a:t>
            </a:r>
            <a:endParaRPr lang="en-US" sz="1400" dirty="0"/>
          </a:p>
        </p:txBody>
      </p:sp>
      <p:sp>
        <p:nvSpPr>
          <p:cNvPr id="19" name="rowbg_120"/>
          <p:cNvSpPr/>
          <p:nvPr/>
        </p:nvSpPr>
        <p:spPr>
          <a:xfrm>
            <a:off x="502920" y="390448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rowtag_121"/>
          <p:cNvSpPr txBox="1"/>
          <p:nvPr/>
        </p:nvSpPr>
        <p:spPr>
          <a:xfrm>
            <a:off x="640080" y="3904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300" dirty="0"/>
          </a:p>
        </p:txBody>
      </p:sp>
      <p:sp>
        <p:nvSpPr>
          <p:cNvPr id="21" name="rowdesc_122"/>
          <p:cNvSpPr txBox="1"/>
          <p:nvPr/>
        </p:nvSpPr>
        <p:spPr>
          <a:xfrm>
            <a:off x="2240280" y="3904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Título principal da página. Use apenas um por página.</a:t>
            </a:r>
            <a:endParaRPr lang="en-US" sz="1400" dirty="0"/>
          </a:p>
        </p:txBody>
      </p:sp>
      <p:sp>
        <p:nvSpPr>
          <p:cNvPr id="22" name="rowbg_123"/>
          <p:cNvSpPr/>
          <p:nvPr/>
        </p:nvSpPr>
        <p:spPr>
          <a:xfrm>
            <a:off x="502920" y="454456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rowtag_124"/>
          <p:cNvSpPr txBox="1"/>
          <p:nvPr/>
        </p:nvSpPr>
        <p:spPr>
          <a:xfrm>
            <a:off x="640080" y="45445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300" dirty="0"/>
          </a:p>
        </p:txBody>
      </p:sp>
      <p:sp>
        <p:nvSpPr>
          <p:cNvPr id="24" name="rowdesc_125"/>
          <p:cNvSpPr txBox="1"/>
          <p:nvPr/>
        </p:nvSpPr>
        <p:spPr>
          <a:xfrm>
            <a:off x="2240280" y="4544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Parágrafo de texto: aqui, a frase de destaque (tagline).</a:t>
            </a:r>
            <a:endParaRPr lang="en-US" sz="1400" dirty="0"/>
          </a:p>
        </p:txBody>
      </p:sp>
      <p:sp>
        <p:nvSpPr>
          <p:cNvPr id="25" name="rowbg_126"/>
          <p:cNvSpPr/>
          <p:nvPr/>
        </p:nvSpPr>
        <p:spPr>
          <a:xfrm>
            <a:off x="502920" y="518464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rowtag_127"/>
          <p:cNvSpPr txBox="1"/>
          <p:nvPr/>
        </p:nvSpPr>
        <p:spPr>
          <a:xfrm>
            <a:off x="640080" y="51846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300" dirty="0"/>
          </a:p>
        </p:txBody>
      </p:sp>
      <p:sp>
        <p:nvSpPr>
          <p:cNvPr id="27" name="rowdesc_128"/>
          <p:cNvSpPr txBox="1"/>
          <p:nvPr/>
        </p:nvSpPr>
        <p:spPr>
          <a:xfrm>
            <a:off x="2240280" y="5184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&lt;strong&gt; = importância (negrito). &lt;em&gt; = ênfase (itálico).</a:t>
            </a:r>
            <a:endParaRPr lang="en-US" sz="1400" dirty="0"/>
          </a:p>
        </p:txBody>
      </p:sp>
      <p:sp>
        <p:nvSpPr>
          <p:cNvPr id="28" name="brw_129"/>
          <p:cNvSpPr/>
          <p:nvPr/>
        </p:nvSpPr>
        <p:spPr>
          <a:xfrm>
            <a:off x="6583680" y="1371600"/>
            <a:ext cx="5120640" cy="4937760"/>
          </a:xfrm>
          <a:prstGeom prst="roundRect">
            <a:avLst>
              <a:gd name="adj" fmla="val 2593"/>
            </a:avLst>
          </a:prstGeom>
          <a:solidFill>
            <a:srgbClr val="0D1233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9" name="brwbar_130"/>
          <p:cNvSpPr/>
          <p:nvPr/>
        </p:nvSpPr>
        <p:spPr>
          <a:xfrm>
            <a:off x="6583680" y="1371600"/>
            <a:ext cx="5120640" cy="438912"/>
          </a:xfrm>
          <a:prstGeom prst="roundRect">
            <a:avLst>
              <a:gd name="adj" fmla="val 29167"/>
            </a:avLst>
          </a:prstGeom>
          <a:solidFill>
            <a:srgbClr val="161C42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0" name="bdot_131"/>
          <p:cNvSpPr/>
          <p:nvPr/>
        </p:nvSpPr>
        <p:spPr>
          <a:xfrm>
            <a:off x="6766560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bdot_132"/>
          <p:cNvSpPr/>
          <p:nvPr/>
        </p:nvSpPr>
        <p:spPr>
          <a:xfrm>
            <a:off x="694944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bdot_133"/>
          <p:cNvSpPr/>
          <p:nvPr/>
        </p:nvSpPr>
        <p:spPr>
          <a:xfrm>
            <a:off x="7132320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url_134"/>
          <p:cNvSpPr/>
          <p:nvPr/>
        </p:nvSpPr>
        <p:spPr>
          <a:xfrm>
            <a:off x="7452360" y="146304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D1233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technews.html</a:t>
            </a:r>
            <a:endParaRPr lang="en-US" sz="1000" dirty="0"/>
          </a:p>
        </p:txBody>
      </p:sp>
      <p:sp>
        <p:nvSpPr>
          <p:cNvPr id="34" name="box_135"/>
          <p:cNvSpPr/>
          <p:nvPr/>
        </p:nvSpPr>
        <p:spPr>
          <a:xfrm>
            <a:off x="6812280" y="2011680"/>
            <a:ext cx="46634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lbl_136"/>
          <p:cNvSpPr txBox="1"/>
          <p:nvPr/>
        </p:nvSpPr>
        <p:spPr>
          <a:xfrm>
            <a:off x="6922008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100" dirty="0"/>
          </a:p>
        </p:txBody>
      </p:sp>
      <p:sp>
        <p:nvSpPr>
          <p:cNvPr id="36" name="h1_137"/>
          <p:cNvSpPr txBox="1"/>
          <p:nvPr/>
        </p:nvSpPr>
        <p:spPr>
          <a:xfrm>
            <a:off x="6812280" y="2423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5F7"/>
                </a:solidFill>
              </a:rPr>
              <a:t>📱 </a:t>
            </a:r>
            <a:pPr algn="ctr" indent="0" marL="0">
              <a:buNone/>
            </a:pPr>
            <a:r>
              <a:rPr lang="en-US" sz="3400" b="1" dirty="0">
                <a:solidFill>
                  <a:srgbClr val="A855F7"/>
                </a:solidFill>
              </a:rPr>
              <a:t>T</a:t>
            </a:r>
            <a:pPr algn="ctr" indent="0" marL="0">
              <a:buNone/>
            </a:pPr>
            <a:r>
              <a:rPr lang="en-US" sz="3400" b="1" dirty="0">
                <a:solidFill>
                  <a:srgbClr val="AC51ED"/>
                </a:solidFill>
              </a:rPr>
              <a:t>e</a:t>
            </a:r>
            <a:pPr algn="ctr" indent="0" marL="0">
              <a:buNone/>
            </a:pPr>
            <a:r>
              <a:rPr lang="en-US" sz="3400" b="1" dirty="0">
                <a:solidFill>
                  <a:srgbClr val="B04EE3"/>
                </a:solidFill>
              </a:rPr>
              <a:t>c</a:t>
            </a:r>
            <a:pPr algn="ctr" indent="0" marL="0">
              <a:buNone/>
            </a:pPr>
            <a:r>
              <a:rPr lang="en-US" sz="3400" b="1" dirty="0">
                <a:solidFill>
                  <a:srgbClr val="B44AD9"/>
                </a:solidFill>
              </a:rPr>
              <a:t>h</a:t>
            </a:r>
            <a:pPr algn="ctr" indent="0" marL="0">
              <a:buNone/>
            </a:pPr>
            <a:r>
              <a:rPr lang="en-US" sz="3400" b="1" dirty="0">
                <a:solidFill>
                  <a:srgbClr val="B847D0"/>
                </a:solidFill>
              </a:rPr>
              <a:t>N</a:t>
            </a:r>
            <a:pPr algn="ctr" indent="0" marL="0">
              <a:buNone/>
            </a:pPr>
            <a:r>
              <a:rPr lang="en-US" sz="3400" b="1" dirty="0">
                <a:solidFill>
                  <a:srgbClr val="BC43C6"/>
                </a:solidFill>
              </a:rPr>
              <a:t>e</a:t>
            </a:r>
            <a:pPr algn="ctr" indent="0" marL="0">
              <a:buNone/>
            </a:pPr>
            <a:r>
              <a:rPr lang="en-US" sz="3400" b="1" dirty="0">
                <a:solidFill>
                  <a:srgbClr val="C040BC"/>
                </a:solidFill>
              </a:rPr>
              <a:t>w</a:t>
            </a:r>
            <a:pPr algn="ctr" indent="0" marL="0">
              <a:buNone/>
            </a:pPr>
            <a:r>
              <a:rPr lang="en-US" sz="3400" b="1" dirty="0">
                <a:solidFill>
                  <a:srgbClr val="C33CB2"/>
                </a:solidFill>
              </a:rPr>
              <a:t>s</a:t>
            </a:r>
            <a:pPr algn="ctr" indent="0" marL="0">
              <a:buNone/>
            </a:pPr>
            <a:r>
              <a:rPr lang="en-US" sz="3400" b="1" dirty="0">
                <a:solidFill>
                  <a:srgbClr val="C739A8"/>
                </a:solidFill>
              </a:rPr>
              <a:t> </a:t>
            </a:r>
            <a:pPr algn="ctr" indent="0" marL="0">
              <a:buNone/>
            </a:pPr>
            <a:r>
              <a:rPr lang="en-US" sz="3400" b="1" dirty="0">
                <a:solidFill>
                  <a:srgbClr val="CB359E"/>
                </a:solidFill>
              </a:rPr>
              <a:t>T</a:t>
            </a:r>
            <a:pPr algn="ctr" indent="0" marL="0">
              <a:buNone/>
            </a:pPr>
            <a:r>
              <a:rPr lang="en-US" sz="3400" b="1" dirty="0">
                <a:solidFill>
                  <a:srgbClr val="CF3295"/>
                </a:solidFill>
              </a:rPr>
              <a:t>o</a:t>
            </a:r>
            <a:pPr algn="ctr" indent="0" marL="0">
              <a:buNone/>
            </a:pPr>
            <a:r>
              <a:rPr lang="en-US" sz="3400" b="1" dirty="0">
                <a:solidFill>
                  <a:srgbClr val="D32E8B"/>
                </a:solidFill>
              </a:rPr>
              <a:t>d</a:t>
            </a:r>
            <a:pPr algn="ctr" indent="0" marL="0">
              <a:buNone/>
            </a:pPr>
            <a:r>
              <a:rPr lang="en-US" sz="3400" b="1" dirty="0">
                <a:solidFill>
                  <a:srgbClr val="D72B81"/>
                </a:solidFill>
              </a:rPr>
              <a:t>a</a:t>
            </a:r>
            <a:pPr algn="ctr" indent="0" marL="0">
              <a:buNone/>
            </a:pPr>
            <a:r>
              <a:rPr lang="en-US" sz="3400" b="1" dirty="0">
                <a:solidFill>
                  <a:srgbClr val="DB2777"/>
                </a:solidFill>
              </a:rPr>
              <a:t>y</a:t>
            </a:r>
            <a:endParaRPr lang="en-US" sz="3400" dirty="0"/>
          </a:p>
        </p:txBody>
      </p:sp>
      <p:sp>
        <p:nvSpPr>
          <p:cNvPr id="37" name="lbl_138"/>
          <p:cNvSpPr txBox="1"/>
          <p:nvPr/>
        </p:nvSpPr>
        <p:spPr>
          <a:xfrm>
            <a:off x="6812280" y="3246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As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últimas novidades</a:t>
            </a:r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 do mundo </a:t>
            </a:r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tech</a:t>
            </a:r>
            <a:endParaRPr lang="en-US" sz="1800" dirty="0"/>
          </a:p>
        </p:txBody>
      </p:sp>
      <p:sp>
        <p:nvSpPr>
          <p:cNvPr id="38" name="chip_139"/>
          <p:cNvSpPr/>
          <p:nvPr/>
        </p:nvSpPr>
        <p:spPr>
          <a:xfrm>
            <a:off x="7863840" y="43434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200" dirty="0"/>
          </a:p>
        </p:txBody>
      </p:sp>
      <p:sp>
        <p:nvSpPr>
          <p:cNvPr id="39" name="lbl_140"/>
          <p:cNvSpPr txBox="1"/>
          <p:nvPr/>
        </p:nvSpPr>
        <p:spPr>
          <a:xfrm>
            <a:off x="745236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importância → negrito</a:t>
            </a:r>
            <a:endParaRPr lang="en-US" sz="1300" dirty="0"/>
          </a:p>
        </p:txBody>
      </p:sp>
      <p:sp>
        <p:nvSpPr>
          <p:cNvPr id="40" name="chip_141"/>
          <p:cNvSpPr/>
          <p:nvPr/>
        </p:nvSpPr>
        <p:spPr>
          <a:xfrm>
            <a:off x="10058400" y="434340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200" dirty="0"/>
          </a:p>
        </p:txBody>
      </p:sp>
      <p:sp>
        <p:nvSpPr>
          <p:cNvPr id="41" name="lbl_142"/>
          <p:cNvSpPr txBox="1"/>
          <p:nvPr/>
        </p:nvSpPr>
        <p:spPr>
          <a:xfrm>
            <a:off x="9555480" y="4736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ênfase → itálico</a:t>
            </a:r>
            <a:endParaRPr lang="en-US" sz="1300" dirty="0"/>
          </a:p>
        </p:txBody>
      </p:sp>
      <p:sp>
        <p:nvSpPr>
          <p:cNvPr id="42" name="ar_143"/>
          <p:cNvSpPr/>
          <p:nvPr/>
        </p:nvSpPr>
        <p:spPr>
          <a:xfrm flipV="1">
            <a:off x="8458200" y="3675888"/>
            <a:ext cx="0" cy="6400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43" name="ar_144"/>
          <p:cNvSpPr/>
          <p:nvPr/>
        </p:nvSpPr>
        <p:spPr>
          <a:xfrm flipV="1">
            <a:off x="10469880" y="3675888"/>
            <a:ext cx="0" cy="6400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  <p:bldP spid="17" grpId="0" animBg="1"/>
      <p:bldP spid="18" grpId="0" animBg="1"/>
      <p:bldP spid="34" grpId="0" animBg="1"/>
      <p:bldP spid="35" grpId="0" animBg="1"/>
      <p:bldP spid="12" grpId="0" animBg="1"/>
      <p:bldP spid="19" grpId="0" animBg="1"/>
      <p:bldP spid="20" grpId="0" animBg="1"/>
      <p:bldP spid="21" grpId="0" animBg="1"/>
      <p:bldP spid="36" grpId="0" animBg="1"/>
      <p:bldP spid="13" grpId="0" animBg="1"/>
      <p:bldP spid="22" grpId="0" animBg="1"/>
      <p:bldP spid="23" grpId="0" animBg="1"/>
      <p:bldP spid="24" grpId="0" animBg="1"/>
      <p:bldP spid="37" grpId="0" animBg="1"/>
      <p:bldP spid="14" grpId="0" animBg="1"/>
      <p:bldP spid="25" grpId="0" animBg="1"/>
      <p:bldP spid="26" grpId="0" animBg="1"/>
      <p:bldP spid="27" grpId="0" animBg="1"/>
      <p:bldP spid="42" grpId="0" animBg="1"/>
      <p:bldP spid="43" grpId="0" animBg="1"/>
      <p:bldP spid="38" grpId="0" animBg="1"/>
      <p:bldP spid="40" grpId="0" animBg="1"/>
      <p:bldP spid="39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</a:rPr>
              <a:t>02 · CONTEÚDO SEMÂNTICO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&lt;main&gt; e &lt;article&gt;: a notícia em destaque</a:t>
            </a:r>
            <a:endParaRPr lang="en-US" sz="3400" dirty="0"/>
          </a:p>
        </p:txBody>
      </p:sp>
      <p:sp>
        <p:nvSpPr>
          <p:cNvPr id="5" name="codecard_145"/>
          <p:cNvSpPr/>
          <p:nvPr/>
        </p:nvSpPr>
        <p:spPr>
          <a:xfrm>
            <a:off x="502920" y="1371600"/>
            <a:ext cx="5806440" cy="2350008"/>
          </a:xfrm>
          <a:prstGeom prst="roundRect">
            <a:avLst>
              <a:gd name="adj" fmla="val 4669"/>
            </a:avLst>
          </a:prstGeom>
          <a:solidFill>
            <a:srgbClr val="0F163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dot_146"/>
          <p:cNvSpPr/>
          <p:nvPr/>
        </p:nvSpPr>
        <p:spPr>
          <a:xfrm>
            <a:off x="704088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_147"/>
          <p:cNvSpPr/>
          <p:nvPr/>
        </p:nvSpPr>
        <p:spPr>
          <a:xfrm>
            <a:off x="886968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_148"/>
          <p:cNvSpPr/>
          <p:nvPr/>
        </p:nvSpPr>
        <p:spPr>
          <a:xfrm>
            <a:off x="1069848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file_149"/>
          <p:cNvSpPr txBox="1"/>
          <p:nvPr/>
        </p:nvSpPr>
        <p:spPr>
          <a:xfrm>
            <a:off x="1371600" y="1444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0" name="hl_150"/>
          <p:cNvSpPr/>
          <p:nvPr/>
        </p:nvSpPr>
        <p:spPr>
          <a:xfrm>
            <a:off x="612648" y="1769364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1" name="hl_151"/>
          <p:cNvSpPr/>
          <p:nvPr/>
        </p:nvSpPr>
        <p:spPr>
          <a:xfrm>
            <a:off x="612648" y="1988820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2" name="hl_152"/>
          <p:cNvSpPr/>
          <p:nvPr/>
        </p:nvSpPr>
        <p:spPr>
          <a:xfrm>
            <a:off x="612648" y="3305556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3" name="hl_153"/>
          <p:cNvSpPr/>
          <p:nvPr/>
        </p:nvSpPr>
        <p:spPr>
          <a:xfrm>
            <a:off x="612648" y="2208276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4" name="hl_154"/>
          <p:cNvSpPr/>
          <p:nvPr/>
        </p:nvSpPr>
        <p:spPr>
          <a:xfrm>
            <a:off x="612648" y="2866644"/>
            <a:ext cx="5586984" cy="466344"/>
          </a:xfrm>
          <a:prstGeom prst="roundRect">
            <a:avLst>
              <a:gd name="adj" fmla="val 9804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5" name="hl_155"/>
          <p:cNvSpPr/>
          <p:nvPr/>
        </p:nvSpPr>
        <p:spPr>
          <a:xfrm>
            <a:off x="612648" y="2427732"/>
            <a:ext cx="5586984" cy="466344"/>
          </a:xfrm>
          <a:prstGeom prst="roundRect">
            <a:avLst>
              <a:gd name="adj" fmla="val 9804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6" name="code_156"/>
          <p:cNvSpPr txBox="1"/>
          <p:nvPr/>
        </p:nvSpPr>
        <p:spPr>
          <a:xfrm>
            <a:off x="731520" y="1783080"/>
            <a:ext cx="54864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"conteudo"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"artigo-destaque"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🚀 IA Revoluciona Desenvolvimento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"2025-08-07"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7 de Agosto, 2025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Inteligência artificial está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transformando como criamos software...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17" name="rowbg_157"/>
          <p:cNvSpPr/>
          <p:nvPr/>
        </p:nvSpPr>
        <p:spPr>
          <a:xfrm>
            <a:off x="502920" y="3922776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rowtag_158"/>
          <p:cNvSpPr txBox="1"/>
          <p:nvPr/>
        </p:nvSpPr>
        <p:spPr>
          <a:xfrm>
            <a:off x="640080" y="39227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300" dirty="0"/>
          </a:p>
        </p:txBody>
      </p:sp>
      <p:sp>
        <p:nvSpPr>
          <p:cNvPr id="19" name="rowdesc_159"/>
          <p:cNvSpPr txBox="1"/>
          <p:nvPr/>
        </p:nvSpPr>
        <p:spPr>
          <a:xfrm>
            <a:off x="2240280" y="39227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O conteúdo principal da página. Aparece uma única vez.</a:t>
            </a:r>
            <a:endParaRPr lang="en-US" sz="1400" dirty="0"/>
          </a:p>
        </p:txBody>
      </p:sp>
      <p:sp>
        <p:nvSpPr>
          <p:cNvPr id="20" name="rowbg_160"/>
          <p:cNvSpPr/>
          <p:nvPr/>
        </p:nvSpPr>
        <p:spPr>
          <a:xfrm>
            <a:off x="502920" y="4562856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rowtag_161"/>
          <p:cNvSpPr txBox="1"/>
          <p:nvPr/>
        </p:nvSpPr>
        <p:spPr>
          <a:xfrm>
            <a:off x="640080" y="45628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22" name="rowdesc_162"/>
          <p:cNvSpPr txBox="1"/>
          <p:nvPr/>
        </p:nvSpPr>
        <p:spPr>
          <a:xfrm>
            <a:off x="2240280" y="45628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Conteúdo independente, que faz sentido sozinho: a notícia.</a:t>
            </a:r>
            <a:endParaRPr lang="en-US" sz="1400" dirty="0"/>
          </a:p>
        </p:txBody>
      </p:sp>
      <p:sp>
        <p:nvSpPr>
          <p:cNvPr id="23" name="rowbg_163"/>
          <p:cNvSpPr/>
          <p:nvPr/>
        </p:nvSpPr>
        <p:spPr>
          <a:xfrm>
            <a:off x="502920" y="5202936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rowtag_164"/>
          <p:cNvSpPr txBox="1"/>
          <p:nvPr/>
        </p:nvSpPr>
        <p:spPr>
          <a:xfrm>
            <a:off x="640080" y="52029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 &lt;p&gt;</a:t>
            </a:r>
            <a:endParaRPr lang="en-US" sz="1300" dirty="0"/>
          </a:p>
        </p:txBody>
      </p:sp>
      <p:sp>
        <p:nvSpPr>
          <p:cNvPr id="25" name="rowdesc_165"/>
          <p:cNvSpPr txBox="1"/>
          <p:nvPr/>
        </p:nvSpPr>
        <p:spPr>
          <a:xfrm>
            <a:off x="2240280" y="5202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Subtítulo da notícia e o parágrafo com o resumo.</a:t>
            </a:r>
            <a:endParaRPr lang="en-US" sz="1400" dirty="0"/>
          </a:p>
        </p:txBody>
      </p:sp>
      <p:sp>
        <p:nvSpPr>
          <p:cNvPr id="26" name="rowbg_166"/>
          <p:cNvSpPr/>
          <p:nvPr/>
        </p:nvSpPr>
        <p:spPr>
          <a:xfrm>
            <a:off x="502920" y="5843016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rowtag_167"/>
          <p:cNvSpPr txBox="1"/>
          <p:nvPr/>
        </p:nvSpPr>
        <p:spPr>
          <a:xfrm>
            <a:off x="640080" y="584301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&lt;time&gt;</a:t>
            </a:r>
            <a:endParaRPr lang="en-US" sz="1300" dirty="0"/>
          </a:p>
        </p:txBody>
      </p:sp>
      <p:sp>
        <p:nvSpPr>
          <p:cNvPr id="28" name="rowdesc_168"/>
          <p:cNvSpPr txBox="1"/>
          <p:nvPr/>
        </p:nvSpPr>
        <p:spPr>
          <a:xfrm>
            <a:off x="2240280" y="58430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Data legível para pessoas; datetime é a versão para máquinas.</a:t>
            </a:r>
            <a:endParaRPr lang="en-US" sz="1400" dirty="0"/>
          </a:p>
        </p:txBody>
      </p:sp>
      <p:sp>
        <p:nvSpPr>
          <p:cNvPr id="29" name="brw_169"/>
          <p:cNvSpPr/>
          <p:nvPr/>
        </p:nvSpPr>
        <p:spPr>
          <a:xfrm>
            <a:off x="6583680" y="1371600"/>
            <a:ext cx="5120640" cy="4937760"/>
          </a:xfrm>
          <a:prstGeom prst="roundRect">
            <a:avLst>
              <a:gd name="adj" fmla="val 2593"/>
            </a:avLst>
          </a:prstGeom>
          <a:solidFill>
            <a:srgbClr val="0D1233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0" name="brwbar_170"/>
          <p:cNvSpPr/>
          <p:nvPr/>
        </p:nvSpPr>
        <p:spPr>
          <a:xfrm>
            <a:off x="6583680" y="1371600"/>
            <a:ext cx="5120640" cy="438912"/>
          </a:xfrm>
          <a:prstGeom prst="roundRect">
            <a:avLst>
              <a:gd name="adj" fmla="val 29167"/>
            </a:avLst>
          </a:prstGeom>
          <a:solidFill>
            <a:srgbClr val="161C42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1" name="bdot_171"/>
          <p:cNvSpPr/>
          <p:nvPr/>
        </p:nvSpPr>
        <p:spPr>
          <a:xfrm>
            <a:off x="6766560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bdot_172"/>
          <p:cNvSpPr/>
          <p:nvPr/>
        </p:nvSpPr>
        <p:spPr>
          <a:xfrm>
            <a:off x="694944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3" name="bdot_173"/>
          <p:cNvSpPr/>
          <p:nvPr/>
        </p:nvSpPr>
        <p:spPr>
          <a:xfrm>
            <a:off x="7132320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4" name="url_174"/>
          <p:cNvSpPr/>
          <p:nvPr/>
        </p:nvSpPr>
        <p:spPr>
          <a:xfrm>
            <a:off x="7452360" y="146304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D1233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technews.html</a:t>
            </a:r>
            <a:endParaRPr lang="en-US" sz="1000" dirty="0"/>
          </a:p>
        </p:txBody>
      </p:sp>
      <p:sp>
        <p:nvSpPr>
          <p:cNvPr id="35" name="box_175"/>
          <p:cNvSpPr/>
          <p:nvPr/>
        </p:nvSpPr>
        <p:spPr>
          <a:xfrm>
            <a:off x="6812280" y="2011680"/>
            <a:ext cx="4663440" cy="4114800"/>
          </a:xfrm>
          <a:prstGeom prst="roundRect">
            <a:avLst>
              <a:gd name="adj" fmla="val 2222"/>
            </a:avLst>
          </a:prstGeom>
          <a:solidFill>
            <a:srgbClr val="6366F1">
              <a:alpha val="12000"/>
            </a:srgbClr>
          </a:solidFill>
          <a:ln w="19050">
            <a:solidFill>
              <a:srgbClr val="6366F1"/>
            </a:solidFill>
            <a:prstDash val="dash"/>
          </a:ln>
        </p:spPr>
      </p:sp>
      <p:sp>
        <p:nvSpPr>
          <p:cNvPr id="36" name="lbl_176"/>
          <p:cNvSpPr txBox="1"/>
          <p:nvPr/>
        </p:nvSpPr>
        <p:spPr>
          <a:xfrm>
            <a:off x="6922008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00" dirty="0"/>
          </a:p>
        </p:txBody>
      </p:sp>
      <p:sp>
        <p:nvSpPr>
          <p:cNvPr id="37" name="box_177"/>
          <p:cNvSpPr/>
          <p:nvPr/>
        </p:nvSpPr>
        <p:spPr>
          <a:xfrm>
            <a:off x="6995160" y="2423160"/>
            <a:ext cx="4297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8" name="lbl_178"/>
          <p:cNvSpPr txBox="1"/>
          <p:nvPr/>
        </p:nvSpPr>
        <p:spPr>
          <a:xfrm>
            <a:off x="7104888" y="2496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100" dirty="0"/>
          </a:p>
        </p:txBody>
      </p:sp>
      <p:sp>
        <p:nvSpPr>
          <p:cNvPr id="39" name="lbl_179"/>
          <p:cNvSpPr txBox="1"/>
          <p:nvPr/>
        </p:nvSpPr>
        <p:spPr>
          <a:xfrm>
            <a:off x="722376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🚀 IA Revoluciona Desenvolvimento</a:t>
            </a:r>
            <a:endParaRPr lang="en-US" sz="1800" dirty="0"/>
          </a:p>
        </p:txBody>
      </p:sp>
      <p:sp>
        <p:nvSpPr>
          <p:cNvPr id="40" name="lbl_180"/>
          <p:cNvSpPr txBox="1"/>
          <p:nvPr/>
        </p:nvSpPr>
        <p:spPr>
          <a:xfrm>
            <a:off x="72237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7 de Agosto, 2025</a:t>
            </a:r>
            <a:endParaRPr lang="en-US" sz="1300" dirty="0"/>
          </a:p>
        </p:txBody>
      </p:sp>
      <p:sp>
        <p:nvSpPr>
          <p:cNvPr id="41" name="lbl_181"/>
          <p:cNvSpPr txBox="1"/>
          <p:nvPr/>
        </p:nvSpPr>
        <p:spPr>
          <a:xfrm>
            <a:off x="722376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4E7"/>
                </a:solidFill>
              </a:rPr>
              <a:t>Inteligência artificial está transformando como criamos software...</a:t>
            </a:r>
            <a:endParaRPr lang="en-US" sz="1500" dirty="0"/>
          </a:p>
        </p:txBody>
      </p:sp>
      <p:sp>
        <p:nvSpPr>
          <p:cNvPr id="42" name="lbl_182"/>
          <p:cNvSpPr txBox="1"/>
          <p:nvPr/>
        </p:nvSpPr>
        <p:spPr>
          <a:xfrm>
            <a:off x="9098280" y="3319272"/>
            <a:ext cx="1828800" cy="310896"/>
          </a:xfrm>
          <a:prstGeom prst="rect">
            <a:avLst/>
          </a:prstGeom>
          <a:solidFill>
            <a:srgbClr val="0D123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máquina: </a:t>
            </a:r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2025-08-07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8" grpId="0" animBg="1"/>
      <p:bldP spid="19" grpId="0" animBg="1"/>
      <p:bldP spid="35" grpId="0" animBg="1"/>
      <p:bldP spid="36" grpId="0" animBg="1"/>
      <p:bldP spid="11" grpId="0" animBg="1"/>
      <p:bldP spid="12" grpId="0" animBg="1"/>
      <p:bldP spid="20" grpId="0" animBg="1"/>
      <p:bldP spid="21" grpId="0" animBg="1"/>
      <p:bldP spid="22" grpId="0" animBg="1"/>
      <p:bldP spid="37" grpId="0" animBg="1"/>
      <p:bldP spid="38" grpId="0" animBg="1"/>
      <p:bldP spid="13" grpId="0" animBg="1"/>
      <p:bldP spid="14" grpId="0" animBg="1"/>
      <p:bldP spid="23" grpId="0" animBg="1"/>
      <p:bldP spid="24" grpId="0" animBg="1"/>
      <p:bldP spid="25" grpId="0" animBg="1"/>
      <p:bldP spid="39" grpId="0" animBg="1"/>
      <p:bldP spid="41" grpId="0" animBg="1"/>
      <p:bldP spid="15" grpId="0" animBg="1"/>
      <p:bldP spid="26" grpId="0" animBg="1"/>
      <p:bldP spid="27" grpId="0" animBg="1"/>
      <p:bldP spid="28" grpId="0" animBg="1"/>
      <p:bldP spid="40" grpId="0" animBg="1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</a:rPr>
              <a:t>03 · INTERAÇÃO E MÍDIA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&lt;details&gt; e &lt;summary&gt;: o “Leia mais”</a:t>
            </a:r>
            <a:endParaRPr lang="en-US" sz="3400" dirty="0"/>
          </a:p>
        </p:txBody>
      </p:sp>
      <p:sp>
        <p:nvSpPr>
          <p:cNvPr id="5" name="codecard_183"/>
          <p:cNvSpPr/>
          <p:nvPr/>
        </p:nvSpPr>
        <p:spPr>
          <a:xfrm>
            <a:off x="502920" y="1371600"/>
            <a:ext cx="5806440" cy="1691640"/>
          </a:xfrm>
          <a:prstGeom prst="roundRect">
            <a:avLst>
              <a:gd name="adj" fmla="val 6486"/>
            </a:avLst>
          </a:prstGeom>
          <a:solidFill>
            <a:srgbClr val="0F163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dot_184"/>
          <p:cNvSpPr/>
          <p:nvPr/>
        </p:nvSpPr>
        <p:spPr>
          <a:xfrm>
            <a:off x="704088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_185"/>
          <p:cNvSpPr/>
          <p:nvPr/>
        </p:nvSpPr>
        <p:spPr>
          <a:xfrm>
            <a:off x="886968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_186"/>
          <p:cNvSpPr/>
          <p:nvPr/>
        </p:nvSpPr>
        <p:spPr>
          <a:xfrm>
            <a:off x="1069848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file_187"/>
          <p:cNvSpPr txBox="1"/>
          <p:nvPr/>
        </p:nvSpPr>
        <p:spPr>
          <a:xfrm>
            <a:off x="1371600" y="1444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0" name="hl_188"/>
          <p:cNvSpPr/>
          <p:nvPr/>
        </p:nvSpPr>
        <p:spPr>
          <a:xfrm>
            <a:off x="612648" y="1769364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1" name="hl_189"/>
          <p:cNvSpPr/>
          <p:nvPr/>
        </p:nvSpPr>
        <p:spPr>
          <a:xfrm>
            <a:off x="612648" y="2647188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2" name="hl_190"/>
          <p:cNvSpPr/>
          <p:nvPr/>
        </p:nvSpPr>
        <p:spPr>
          <a:xfrm>
            <a:off x="612648" y="1988820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3" name="hl_191"/>
          <p:cNvSpPr/>
          <p:nvPr/>
        </p:nvSpPr>
        <p:spPr>
          <a:xfrm>
            <a:off x="612648" y="2208276"/>
            <a:ext cx="5586984" cy="466344"/>
          </a:xfrm>
          <a:prstGeom prst="roundRect">
            <a:avLst>
              <a:gd name="adj" fmla="val 9804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4" name="code_192"/>
          <p:cNvSpPr txBox="1"/>
          <p:nvPr/>
        </p:nvSpPr>
        <p:spPr>
          <a:xfrm>
            <a:off x="731520" y="1783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"leia-mais"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 mais 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&amp;rarr;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ChatGPT e outras ferramentas estão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mudando o cenário tech mundial.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15" name="rowbg_193"/>
          <p:cNvSpPr/>
          <p:nvPr/>
        </p:nvSpPr>
        <p:spPr>
          <a:xfrm>
            <a:off x="502920" y="326440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rowtag_194"/>
          <p:cNvSpPr txBox="1"/>
          <p:nvPr/>
        </p:nvSpPr>
        <p:spPr>
          <a:xfrm>
            <a:off x="640080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&lt;details&gt;</a:t>
            </a:r>
            <a:endParaRPr lang="en-US" sz="1300" dirty="0"/>
          </a:p>
        </p:txBody>
      </p:sp>
      <p:sp>
        <p:nvSpPr>
          <p:cNvPr id="17" name="rowdesc_195"/>
          <p:cNvSpPr txBox="1"/>
          <p:nvPr/>
        </p:nvSpPr>
        <p:spPr>
          <a:xfrm>
            <a:off x="2240280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Caixa recolhível nativa do HTML. Funciona sem JavaScript.</a:t>
            </a:r>
            <a:endParaRPr lang="en-US" sz="1400" dirty="0"/>
          </a:p>
        </p:txBody>
      </p:sp>
      <p:sp>
        <p:nvSpPr>
          <p:cNvPr id="18" name="rowbg_196"/>
          <p:cNvSpPr/>
          <p:nvPr/>
        </p:nvSpPr>
        <p:spPr>
          <a:xfrm>
            <a:off x="502920" y="390448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rowtag_197"/>
          <p:cNvSpPr txBox="1"/>
          <p:nvPr/>
        </p:nvSpPr>
        <p:spPr>
          <a:xfrm>
            <a:off x="640080" y="3904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&lt;summary&gt;</a:t>
            </a:r>
            <a:endParaRPr lang="en-US" sz="1300" dirty="0"/>
          </a:p>
        </p:txBody>
      </p:sp>
      <p:sp>
        <p:nvSpPr>
          <p:cNvPr id="20" name="rowdesc_198"/>
          <p:cNvSpPr txBox="1"/>
          <p:nvPr/>
        </p:nvSpPr>
        <p:spPr>
          <a:xfrm>
            <a:off x="2240280" y="3904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O rótulo sempre visível. Clicar nele abre ou fecha a caixa.</a:t>
            </a:r>
            <a:endParaRPr lang="en-US" sz="1400" dirty="0"/>
          </a:p>
        </p:txBody>
      </p:sp>
      <p:sp>
        <p:nvSpPr>
          <p:cNvPr id="21" name="rowbg_199"/>
          <p:cNvSpPr/>
          <p:nvPr/>
        </p:nvSpPr>
        <p:spPr>
          <a:xfrm>
            <a:off x="502920" y="454456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rowtag_200"/>
          <p:cNvSpPr txBox="1"/>
          <p:nvPr/>
        </p:nvSpPr>
        <p:spPr>
          <a:xfrm>
            <a:off x="640080" y="45445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 oculto</a:t>
            </a:r>
            <a:endParaRPr lang="en-US" sz="1300" dirty="0"/>
          </a:p>
        </p:txBody>
      </p:sp>
      <p:sp>
        <p:nvSpPr>
          <p:cNvPr id="23" name="rowdesc_201"/>
          <p:cNvSpPr txBox="1"/>
          <p:nvPr/>
        </p:nvSpPr>
        <p:spPr>
          <a:xfrm>
            <a:off x="2240280" y="4544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Fica escondido até o clique. Ao abrir, a seta gira para baixo.</a:t>
            </a:r>
            <a:endParaRPr lang="en-US" sz="1400" dirty="0"/>
          </a:p>
        </p:txBody>
      </p:sp>
      <p:sp>
        <p:nvSpPr>
          <p:cNvPr id="24" name="brw_202"/>
          <p:cNvSpPr/>
          <p:nvPr/>
        </p:nvSpPr>
        <p:spPr>
          <a:xfrm>
            <a:off x="6583680" y="1371600"/>
            <a:ext cx="5120640" cy="4937760"/>
          </a:xfrm>
          <a:prstGeom prst="roundRect">
            <a:avLst>
              <a:gd name="adj" fmla="val 2593"/>
            </a:avLst>
          </a:prstGeom>
          <a:solidFill>
            <a:srgbClr val="0D1233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5" name="brwbar_203"/>
          <p:cNvSpPr/>
          <p:nvPr/>
        </p:nvSpPr>
        <p:spPr>
          <a:xfrm>
            <a:off x="6583680" y="1371600"/>
            <a:ext cx="5120640" cy="438912"/>
          </a:xfrm>
          <a:prstGeom prst="roundRect">
            <a:avLst>
              <a:gd name="adj" fmla="val 29167"/>
            </a:avLst>
          </a:prstGeom>
          <a:solidFill>
            <a:srgbClr val="161C42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6" name="bdot_204"/>
          <p:cNvSpPr/>
          <p:nvPr/>
        </p:nvSpPr>
        <p:spPr>
          <a:xfrm>
            <a:off x="6766560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bdot_205"/>
          <p:cNvSpPr/>
          <p:nvPr/>
        </p:nvSpPr>
        <p:spPr>
          <a:xfrm>
            <a:off x="694944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bdot_206"/>
          <p:cNvSpPr/>
          <p:nvPr/>
        </p:nvSpPr>
        <p:spPr>
          <a:xfrm>
            <a:off x="7132320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url_207"/>
          <p:cNvSpPr/>
          <p:nvPr/>
        </p:nvSpPr>
        <p:spPr>
          <a:xfrm>
            <a:off x="7452360" y="146304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D1233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technews.html</a:t>
            </a:r>
            <a:endParaRPr lang="en-US" sz="1000" dirty="0"/>
          </a:p>
        </p:txBody>
      </p:sp>
      <p:sp>
        <p:nvSpPr>
          <p:cNvPr id="30" name="box_208"/>
          <p:cNvSpPr/>
          <p:nvPr/>
        </p:nvSpPr>
        <p:spPr>
          <a:xfrm>
            <a:off x="6812280" y="2194560"/>
            <a:ext cx="4663440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lbl_209"/>
          <p:cNvSpPr txBox="1"/>
          <p:nvPr/>
        </p:nvSpPr>
        <p:spPr>
          <a:xfrm>
            <a:off x="6922008" y="2267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&lt;details&gt;</a:t>
            </a:r>
            <a:endParaRPr lang="en-US" sz="1100" dirty="0"/>
          </a:p>
        </p:txBody>
      </p:sp>
      <p:sp>
        <p:nvSpPr>
          <p:cNvPr id="32" name="lbl_210"/>
          <p:cNvSpPr txBox="1"/>
          <p:nvPr/>
        </p:nvSpPr>
        <p:spPr>
          <a:xfrm>
            <a:off x="708660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►  Leia mais →</a:t>
            </a:r>
            <a:endParaRPr lang="en-US" sz="2000" dirty="0"/>
          </a:p>
        </p:txBody>
      </p:sp>
      <p:sp>
        <p:nvSpPr>
          <p:cNvPr id="33" name="lbl_211"/>
          <p:cNvSpPr txBox="1"/>
          <p:nvPr/>
        </p:nvSpPr>
        <p:spPr>
          <a:xfrm>
            <a:off x="7086600" y="2697480"/>
            <a:ext cx="27432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▼  Leia mais →</a:t>
            </a:r>
            <a:endParaRPr lang="en-US" sz="2000" dirty="0"/>
          </a:p>
        </p:txBody>
      </p:sp>
      <p:pic>
        <p:nvPicPr>
          <p:cNvPr id="34" name="hand_21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880360"/>
            <a:ext cx="384048" cy="384048"/>
          </a:xfrm>
          <a:prstGeom prst="rect">
            <a:avLst/>
          </a:prstGeom>
        </p:spPr>
      </p:pic>
      <p:sp>
        <p:nvSpPr>
          <p:cNvPr id="35" name="lbl_213"/>
          <p:cNvSpPr txBox="1"/>
          <p:nvPr/>
        </p:nvSpPr>
        <p:spPr>
          <a:xfrm>
            <a:off x="973836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&lt;summary&gt;</a:t>
            </a:r>
            <a:endParaRPr lang="en-US" sz="1200" dirty="0"/>
          </a:p>
        </p:txBody>
      </p:sp>
      <p:sp>
        <p:nvSpPr>
          <p:cNvPr id="36" name="lbl_214"/>
          <p:cNvSpPr txBox="1"/>
          <p:nvPr/>
        </p:nvSpPr>
        <p:spPr>
          <a:xfrm>
            <a:off x="7086600" y="3383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4E7"/>
                </a:solidFill>
              </a:rPr>
              <a:t>ChatGPT e outras ferramentas estão mudando o cenário tech mundial.</a:t>
            </a:r>
            <a:endParaRPr lang="en-US" sz="1600" dirty="0"/>
          </a:p>
        </p:txBody>
      </p:sp>
      <p:sp>
        <p:nvSpPr>
          <p:cNvPr id="37" name="lbl_215"/>
          <p:cNvSpPr txBox="1"/>
          <p:nvPr/>
        </p:nvSpPr>
        <p:spPr>
          <a:xfrm>
            <a:off x="7086600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aberto pelo clique, sem JavaScript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17" grpId="0" animBg="1"/>
      <p:bldP spid="30" grpId="0" animBg="1"/>
      <p:bldP spid="31" grpId="0" animBg="1"/>
      <p:bldP spid="12" grpId="0" animBg="1"/>
      <p:bldP spid="18" grpId="0" animBg="1"/>
      <p:bldP spid="19" grpId="0" animBg="1"/>
      <p:bldP spid="20" grpId="0" animBg="1"/>
      <p:bldP spid="32" grpId="0" animBg="1"/>
      <p:bldP spid="35" grpId="0" animBg="1"/>
      <p:bldP spid="13" grpId="0" animBg="1"/>
      <p:bldP spid="21" grpId="0" animBg="1"/>
      <p:bldP spid="22" grpId="0" animBg="1"/>
      <p:bldP spid="23" grpId="0" animBg="1"/>
      <p:bldP spid="33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</a:rPr>
              <a:t>03 · INTERAÇÃO E MÍDIA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&lt;section&gt; e &lt;iframe&gt;: o vídeo incorporado</a:t>
            </a:r>
            <a:endParaRPr lang="en-US" sz="3400" dirty="0"/>
          </a:p>
        </p:txBody>
      </p:sp>
      <p:sp>
        <p:nvSpPr>
          <p:cNvPr id="5" name="codecard_216"/>
          <p:cNvSpPr/>
          <p:nvPr/>
        </p:nvSpPr>
        <p:spPr>
          <a:xfrm>
            <a:off x="502920" y="1371600"/>
            <a:ext cx="5806440" cy="2130552"/>
          </a:xfrm>
          <a:prstGeom prst="roundRect">
            <a:avLst>
              <a:gd name="adj" fmla="val 5150"/>
            </a:avLst>
          </a:prstGeom>
          <a:solidFill>
            <a:srgbClr val="0F163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dot_217"/>
          <p:cNvSpPr/>
          <p:nvPr/>
        </p:nvSpPr>
        <p:spPr>
          <a:xfrm>
            <a:off x="704088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_218"/>
          <p:cNvSpPr/>
          <p:nvPr/>
        </p:nvSpPr>
        <p:spPr>
          <a:xfrm>
            <a:off x="886968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_219"/>
          <p:cNvSpPr/>
          <p:nvPr/>
        </p:nvSpPr>
        <p:spPr>
          <a:xfrm>
            <a:off x="1069848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file_220"/>
          <p:cNvSpPr txBox="1"/>
          <p:nvPr/>
        </p:nvSpPr>
        <p:spPr>
          <a:xfrm>
            <a:off x="1371600" y="1444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0" name="hl_221"/>
          <p:cNvSpPr/>
          <p:nvPr/>
        </p:nvSpPr>
        <p:spPr>
          <a:xfrm>
            <a:off x="612648" y="1769364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1" name="hl_222"/>
          <p:cNvSpPr/>
          <p:nvPr/>
        </p:nvSpPr>
        <p:spPr>
          <a:xfrm>
            <a:off x="612648" y="3086100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2" name="hl_223"/>
          <p:cNvSpPr/>
          <p:nvPr/>
        </p:nvSpPr>
        <p:spPr>
          <a:xfrm>
            <a:off x="612648" y="1988820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3" name="hl_224"/>
          <p:cNvSpPr/>
          <p:nvPr/>
        </p:nvSpPr>
        <p:spPr>
          <a:xfrm>
            <a:off x="612648" y="2208276"/>
            <a:ext cx="5586984" cy="905256"/>
          </a:xfrm>
          <a:prstGeom prst="roundRect">
            <a:avLst>
              <a:gd name="adj" fmla="val 5051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4" name="hl_225"/>
          <p:cNvSpPr/>
          <p:nvPr/>
        </p:nvSpPr>
        <p:spPr>
          <a:xfrm>
            <a:off x="612648" y="2208276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F59E0B">
              <a:alpha val="38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5" name="hl_226"/>
          <p:cNvSpPr/>
          <p:nvPr/>
        </p:nvSpPr>
        <p:spPr>
          <a:xfrm>
            <a:off x="612648" y="2647188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F59E0B">
              <a:alpha val="38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6" name="code_227"/>
          <p:cNvSpPr txBox="1"/>
          <p:nvPr/>
        </p:nvSpPr>
        <p:spPr>
          <a:xfrm>
            <a:off x="731520" y="1783080"/>
            <a:ext cx="54864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"secao-video"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📺 Tech em Vídeo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iframe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"video-embed"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"300"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"200"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"https://www.youtube.com/embed/eqUFcr1mI3Y"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"Tech News Video"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iframe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17" name="rowbg_228"/>
          <p:cNvSpPr/>
          <p:nvPr/>
        </p:nvSpPr>
        <p:spPr>
          <a:xfrm>
            <a:off x="502920" y="3703320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rowtag_229"/>
          <p:cNvSpPr txBox="1"/>
          <p:nvPr/>
        </p:nvSpPr>
        <p:spPr>
          <a:xfrm>
            <a:off x="64008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300" dirty="0"/>
          </a:p>
        </p:txBody>
      </p:sp>
      <p:sp>
        <p:nvSpPr>
          <p:cNvPr id="19" name="rowdesc_230"/>
          <p:cNvSpPr txBox="1"/>
          <p:nvPr/>
        </p:nvSpPr>
        <p:spPr>
          <a:xfrm>
            <a:off x="2240280" y="3703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Agrupa um bloco temático da página, com seu próprio título.</a:t>
            </a:r>
            <a:endParaRPr lang="en-US" sz="1400" dirty="0"/>
          </a:p>
        </p:txBody>
      </p:sp>
      <p:sp>
        <p:nvSpPr>
          <p:cNvPr id="20" name="rowbg_231"/>
          <p:cNvSpPr/>
          <p:nvPr/>
        </p:nvSpPr>
        <p:spPr>
          <a:xfrm>
            <a:off x="502920" y="4343400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rowtag_232"/>
          <p:cNvSpPr txBox="1"/>
          <p:nvPr/>
        </p:nvSpPr>
        <p:spPr>
          <a:xfrm>
            <a:off x="640080" y="4343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endParaRPr lang="en-US" sz="1300" dirty="0"/>
          </a:p>
        </p:txBody>
      </p:sp>
      <p:sp>
        <p:nvSpPr>
          <p:cNvPr id="22" name="rowdesc_233"/>
          <p:cNvSpPr txBox="1"/>
          <p:nvPr/>
        </p:nvSpPr>
        <p:spPr>
          <a:xfrm>
            <a:off x="2240280" y="4343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Título da seção: um nível abaixo do &lt;h2&gt; da notícia.</a:t>
            </a:r>
            <a:endParaRPr lang="en-US" sz="1400" dirty="0"/>
          </a:p>
        </p:txBody>
      </p:sp>
      <p:sp>
        <p:nvSpPr>
          <p:cNvPr id="23" name="rowbg_234"/>
          <p:cNvSpPr/>
          <p:nvPr/>
        </p:nvSpPr>
        <p:spPr>
          <a:xfrm>
            <a:off x="502920" y="4983480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rowtag_235"/>
          <p:cNvSpPr txBox="1"/>
          <p:nvPr/>
        </p:nvSpPr>
        <p:spPr>
          <a:xfrm>
            <a:off x="640080" y="4983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</a:t>
            </a:r>
            <a:endParaRPr lang="en-US" sz="1300" dirty="0"/>
          </a:p>
        </p:txBody>
      </p:sp>
      <p:sp>
        <p:nvSpPr>
          <p:cNvPr id="25" name="rowdesc_236"/>
          <p:cNvSpPr txBox="1"/>
          <p:nvPr/>
        </p:nvSpPr>
        <p:spPr>
          <a:xfrm>
            <a:off x="2240280" y="4983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Janela para outra página. src aponta o player do YouTube.</a:t>
            </a:r>
            <a:endParaRPr lang="en-US" sz="1400" dirty="0"/>
          </a:p>
        </p:txBody>
      </p:sp>
      <p:sp>
        <p:nvSpPr>
          <p:cNvPr id="26" name="rowbg_237"/>
          <p:cNvSpPr/>
          <p:nvPr/>
        </p:nvSpPr>
        <p:spPr>
          <a:xfrm>
            <a:off x="502920" y="5623560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rowtag_238"/>
          <p:cNvSpPr txBox="1"/>
          <p:nvPr/>
        </p:nvSpPr>
        <p:spPr>
          <a:xfrm>
            <a:off x="640080" y="5623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 title</a:t>
            </a:r>
            <a:endParaRPr lang="en-US" sz="1300" dirty="0"/>
          </a:p>
        </p:txBody>
      </p:sp>
      <p:sp>
        <p:nvSpPr>
          <p:cNvPr id="28" name="rowdesc_239"/>
          <p:cNvSpPr txBox="1"/>
          <p:nvPr/>
        </p:nvSpPr>
        <p:spPr>
          <a:xfrm>
            <a:off x="2240280" y="5623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Definem o tamanho do quadro e descrevem o vídeo.</a:t>
            </a:r>
            <a:endParaRPr lang="en-US" sz="1400" dirty="0"/>
          </a:p>
        </p:txBody>
      </p:sp>
      <p:sp>
        <p:nvSpPr>
          <p:cNvPr id="29" name="brw_240"/>
          <p:cNvSpPr/>
          <p:nvPr/>
        </p:nvSpPr>
        <p:spPr>
          <a:xfrm>
            <a:off x="6583680" y="1371600"/>
            <a:ext cx="5120640" cy="4937760"/>
          </a:xfrm>
          <a:prstGeom prst="roundRect">
            <a:avLst>
              <a:gd name="adj" fmla="val 2593"/>
            </a:avLst>
          </a:prstGeom>
          <a:solidFill>
            <a:srgbClr val="0D1233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0" name="brwbar_241"/>
          <p:cNvSpPr/>
          <p:nvPr/>
        </p:nvSpPr>
        <p:spPr>
          <a:xfrm>
            <a:off x="6583680" y="1371600"/>
            <a:ext cx="5120640" cy="438912"/>
          </a:xfrm>
          <a:prstGeom prst="roundRect">
            <a:avLst>
              <a:gd name="adj" fmla="val 29167"/>
            </a:avLst>
          </a:prstGeom>
          <a:solidFill>
            <a:srgbClr val="161C42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1" name="bdot_242"/>
          <p:cNvSpPr/>
          <p:nvPr/>
        </p:nvSpPr>
        <p:spPr>
          <a:xfrm>
            <a:off x="6766560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bdot_243"/>
          <p:cNvSpPr/>
          <p:nvPr/>
        </p:nvSpPr>
        <p:spPr>
          <a:xfrm>
            <a:off x="694944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3" name="bdot_244"/>
          <p:cNvSpPr/>
          <p:nvPr/>
        </p:nvSpPr>
        <p:spPr>
          <a:xfrm>
            <a:off x="7132320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4" name="url_245"/>
          <p:cNvSpPr/>
          <p:nvPr/>
        </p:nvSpPr>
        <p:spPr>
          <a:xfrm>
            <a:off x="7452360" y="146304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D1233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technews.html</a:t>
            </a:r>
            <a:endParaRPr lang="en-US" sz="1000" dirty="0"/>
          </a:p>
        </p:txBody>
      </p:sp>
      <p:sp>
        <p:nvSpPr>
          <p:cNvPr id="35" name="box_246"/>
          <p:cNvSpPr/>
          <p:nvPr/>
        </p:nvSpPr>
        <p:spPr>
          <a:xfrm>
            <a:off x="6812280" y="2011680"/>
            <a:ext cx="4663440" cy="4114800"/>
          </a:xfrm>
          <a:prstGeom prst="roundRect">
            <a:avLst>
              <a:gd name="adj" fmla="val 2222"/>
            </a:avLst>
          </a:prstGeom>
          <a:solidFill>
            <a:srgbClr val="DB2777">
              <a:alpha val="10000"/>
            </a:srgbClr>
          </a:solidFill>
          <a:ln w="19050">
            <a:solidFill>
              <a:srgbClr val="DB2777"/>
            </a:solidFill>
            <a:prstDash val="dash"/>
          </a:ln>
        </p:spPr>
      </p:sp>
      <p:sp>
        <p:nvSpPr>
          <p:cNvPr id="36" name="lbl_247"/>
          <p:cNvSpPr txBox="1"/>
          <p:nvPr/>
        </p:nvSpPr>
        <p:spPr>
          <a:xfrm>
            <a:off x="6922008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100" dirty="0"/>
          </a:p>
        </p:txBody>
      </p:sp>
      <p:sp>
        <p:nvSpPr>
          <p:cNvPr id="37" name="lbl_248"/>
          <p:cNvSpPr txBox="1"/>
          <p:nvPr/>
        </p:nvSpPr>
        <p:spPr>
          <a:xfrm>
            <a:off x="6812280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📺 Tech em Vídeo</a:t>
            </a:r>
            <a:endParaRPr lang="en-US" sz="2000" dirty="0"/>
          </a:p>
        </p:txBody>
      </p:sp>
      <p:sp>
        <p:nvSpPr>
          <p:cNvPr id="38" name="box_249"/>
          <p:cNvSpPr/>
          <p:nvPr/>
        </p:nvSpPr>
        <p:spPr>
          <a:xfrm>
            <a:off x="7498080" y="2926080"/>
            <a:ext cx="3291840" cy="2208876"/>
          </a:xfrm>
          <a:prstGeom prst="roundRect">
            <a:avLst>
              <a:gd name="adj" fmla="val 4140"/>
            </a:avLst>
          </a:prstGeom>
          <a:solidFill>
            <a:srgbClr val="000000"/>
          </a:solidFill>
          <a:ln w="25400">
            <a:solidFill>
              <a:srgbClr val="6366F1"/>
            </a:solidFill>
            <a:prstDash val="solid"/>
          </a:ln>
        </p:spPr>
      </p:sp>
      <p:pic>
        <p:nvPicPr>
          <p:cNvPr id="39" name="vid_250" descr="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971800"/>
            <a:ext cx="3200400" cy="2117436"/>
          </a:xfrm>
          <a:prstGeom prst="rect">
            <a:avLst/>
          </a:prstGeom>
        </p:spPr>
      </p:pic>
      <p:sp>
        <p:nvSpPr>
          <p:cNvPr id="40" name="lbl_251"/>
          <p:cNvSpPr txBox="1"/>
          <p:nvPr/>
        </p:nvSpPr>
        <p:spPr>
          <a:xfrm>
            <a:off x="7543800" y="51806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← 300 px →</a:t>
            </a:r>
            <a:endParaRPr lang="en-US" sz="1300" dirty="0"/>
          </a:p>
        </p:txBody>
      </p:sp>
      <p:sp>
        <p:nvSpPr>
          <p:cNvPr id="41" name="lbl_252"/>
          <p:cNvSpPr txBox="1"/>
          <p:nvPr/>
        </p:nvSpPr>
        <p:spPr>
          <a:xfrm>
            <a:off x="10835640" y="389335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200 px</a:t>
            </a:r>
            <a:endParaRPr lang="en-US" sz="1300" dirty="0"/>
          </a:p>
        </p:txBody>
      </p:sp>
      <p:sp>
        <p:nvSpPr>
          <p:cNvPr id="42" name="lbl_253"/>
          <p:cNvSpPr txBox="1"/>
          <p:nvPr/>
        </p:nvSpPr>
        <p:spPr>
          <a:xfrm>
            <a:off x="6903720" y="55464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</a:t>
            </a:r>
            <a:pPr algn="ctr" indent="0" marL="0">
              <a:buNone/>
            </a:pPr>
            <a:r>
              <a:rPr lang="en-US" sz="1300" dirty="0">
                <a:solidFill>
                  <a:srgbClr val="E4E4E7"/>
                </a:solidFill>
              </a:rPr>
              <a:t>“Tech News Video” lido pelo leitor de tela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7" grpId="0" animBg="1"/>
      <p:bldP spid="18" grpId="0" animBg="1"/>
      <p:bldP spid="19" grpId="0" animBg="1"/>
      <p:bldP spid="35" grpId="0" animBg="1"/>
      <p:bldP spid="36" grpId="0" animBg="1"/>
      <p:bldP spid="12" grpId="0" animBg="1"/>
      <p:bldP spid="20" grpId="0" animBg="1"/>
      <p:bldP spid="21" grpId="0" animBg="1"/>
      <p:bldP spid="22" grpId="0" animBg="1"/>
      <p:bldP spid="37" grpId="0" animBg="1"/>
      <p:bldP spid="13" grpId="0" animBg="1"/>
      <p:bldP spid="23" grpId="0" animBg="1"/>
      <p:bldP spid="24" grpId="0" animBg="1"/>
      <p:bldP spid="25" grpId="0" animBg="1"/>
      <p:bldP spid="38" grpId="0" animBg="1"/>
      <p:bldP spid="14" grpId="0" animBg="1"/>
      <p:bldP spid="15" grpId="0" animBg="1"/>
      <p:bldP spid="26" grpId="0" animBg="1"/>
      <p:bldP spid="27" grpId="0" animBg="1"/>
      <p:bldP spid="28" grpId="0" animBg="1"/>
      <p:bldP spid="40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</a:rPr>
              <a:t>04 · FORMULÁRIOS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&lt;form&gt;, &lt;label&gt; e &lt;input&gt;: a newsletter</a:t>
            </a:r>
            <a:endParaRPr lang="en-US" sz="3400" dirty="0"/>
          </a:p>
        </p:txBody>
      </p:sp>
      <p:sp>
        <p:nvSpPr>
          <p:cNvPr id="5" name="codecard_254"/>
          <p:cNvSpPr/>
          <p:nvPr/>
        </p:nvSpPr>
        <p:spPr>
          <a:xfrm>
            <a:off x="502920" y="1371600"/>
            <a:ext cx="5806440" cy="1691640"/>
          </a:xfrm>
          <a:prstGeom prst="roundRect">
            <a:avLst>
              <a:gd name="adj" fmla="val 6486"/>
            </a:avLst>
          </a:prstGeom>
          <a:solidFill>
            <a:srgbClr val="0F163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dot_255"/>
          <p:cNvSpPr/>
          <p:nvPr/>
        </p:nvSpPr>
        <p:spPr>
          <a:xfrm>
            <a:off x="704088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_256"/>
          <p:cNvSpPr/>
          <p:nvPr/>
        </p:nvSpPr>
        <p:spPr>
          <a:xfrm>
            <a:off x="886968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_257"/>
          <p:cNvSpPr/>
          <p:nvPr/>
        </p:nvSpPr>
        <p:spPr>
          <a:xfrm>
            <a:off x="1069848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file_258"/>
          <p:cNvSpPr txBox="1"/>
          <p:nvPr/>
        </p:nvSpPr>
        <p:spPr>
          <a:xfrm>
            <a:off x="1371600" y="1444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0" name="hl_259"/>
          <p:cNvSpPr/>
          <p:nvPr/>
        </p:nvSpPr>
        <p:spPr>
          <a:xfrm>
            <a:off x="612648" y="1769364"/>
            <a:ext cx="5586984" cy="466344"/>
          </a:xfrm>
          <a:prstGeom prst="roundRect">
            <a:avLst>
              <a:gd name="adj" fmla="val 9804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1" name="hl_260"/>
          <p:cNvSpPr/>
          <p:nvPr/>
        </p:nvSpPr>
        <p:spPr>
          <a:xfrm>
            <a:off x="612648" y="2208276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2" name="hl_261"/>
          <p:cNvSpPr/>
          <p:nvPr/>
        </p:nvSpPr>
        <p:spPr>
          <a:xfrm>
            <a:off x="612648" y="2427732"/>
            <a:ext cx="5586984" cy="466344"/>
          </a:xfrm>
          <a:prstGeom prst="roundRect">
            <a:avLst>
              <a:gd name="adj" fmla="val 9804"/>
            </a:avLst>
          </a:prstGeom>
          <a:solidFill>
            <a:srgbClr val="6366F1">
              <a:alpha val="3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13" name="hl_262"/>
          <p:cNvSpPr/>
          <p:nvPr/>
        </p:nvSpPr>
        <p:spPr>
          <a:xfrm>
            <a:off x="612648" y="2647188"/>
            <a:ext cx="5586984" cy="246888"/>
          </a:xfrm>
          <a:prstGeom prst="roundRect">
            <a:avLst>
              <a:gd name="adj" fmla="val 18519"/>
            </a:avLst>
          </a:prstGeom>
          <a:solidFill>
            <a:srgbClr val="F59E0B">
              <a:alpha val="38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code_263"/>
          <p:cNvSpPr txBox="1"/>
          <p:nvPr/>
        </p:nvSpPr>
        <p:spPr>
          <a:xfrm>
            <a:off x="731520" y="1783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"subscribe.php"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"form-newsletter"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20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15" name="rowbg_264"/>
          <p:cNvSpPr/>
          <p:nvPr/>
        </p:nvSpPr>
        <p:spPr>
          <a:xfrm>
            <a:off x="502920" y="326440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rowtag_265"/>
          <p:cNvSpPr txBox="1"/>
          <p:nvPr/>
        </p:nvSpPr>
        <p:spPr>
          <a:xfrm>
            <a:off x="640080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300" dirty="0"/>
          </a:p>
        </p:txBody>
      </p:sp>
      <p:sp>
        <p:nvSpPr>
          <p:cNvPr id="17" name="rowdesc_266"/>
          <p:cNvSpPr txBox="1"/>
          <p:nvPr/>
        </p:nvSpPr>
        <p:spPr>
          <a:xfrm>
            <a:off x="2240280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Agrupa os campos. action = para onde enviar; method = como (post).</a:t>
            </a:r>
            <a:endParaRPr lang="en-US" sz="1400" dirty="0"/>
          </a:p>
        </p:txBody>
      </p:sp>
      <p:sp>
        <p:nvSpPr>
          <p:cNvPr id="18" name="rowbg_267"/>
          <p:cNvSpPr/>
          <p:nvPr/>
        </p:nvSpPr>
        <p:spPr>
          <a:xfrm>
            <a:off x="502920" y="390448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rowtag_268"/>
          <p:cNvSpPr txBox="1"/>
          <p:nvPr/>
        </p:nvSpPr>
        <p:spPr>
          <a:xfrm>
            <a:off x="640080" y="3904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1300" dirty="0"/>
          </a:p>
        </p:txBody>
      </p:sp>
      <p:sp>
        <p:nvSpPr>
          <p:cNvPr id="20" name="rowdesc_269"/>
          <p:cNvSpPr txBox="1"/>
          <p:nvPr/>
        </p:nvSpPr>
        <p:spPr>
          <a:xfrm>
            <a:off x="2240280" y="3904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Texto do campo. for="email" liga o rótulo ao input de id="email".</a:t>
            </a:r>
            <a:endParaRPr lang="en-US" sz="1400" dirty="0"/>
          </a:p>
        </p:txBody>
      </p:sp>
      <p:sp>
        <p:nvSpPr>
          <p:cNvPr id="21" name="rowbg_270"/>
          <p:cNvSpPr/>
          <p:nvPr/>
        </p:nvSpPr>
        <p:spPr>
          <a:xfrm>
            <a:off x="502920" y="454456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rowtag_271"/>
          <p:cNvSpPr txBox="1"/>
          <p:nvPr/>
        </p:nvSpPr>
        <p:spPr>
          <a:xfrm>
            <a:off x="640080" y="45445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300" dirty="0"/>
          </a:p>
        </p:txBody>
      </p:sp>
      <p:sp>
        <p:nvSpPr>
          <p:cNvPr id="23" name="rowdesc_272"/>
          <p:cNvSpPr txBox="1"/>
          <p:nvPr/>
        </p:nvSpPr>
        <p:spPr>
          <a:xfrm>
            <a:off x="2240280" y="4544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type="email" só aceita e-mail válido e abre o teclado certo.</a:t>
            </a:r>
            <a:endParaRPr lang="en-US" sz="1400" dirty="0"/>
          </a:p>
        </p:txBody>
      </p:sp>
      <p:sp>
        <p:nvSpPr>
          <p:cNvPr id="24" name="rowbg_273"/>
          <p:cNvSpPr/>
          <p:nvPr/>
        </p:nvSpPr>
        <p:spPr>
          <a:xfrm>
            <a:off x="502920" y="5184648"/>
            <a:ext cx="5806440" cy="548640"/>
          </a:xfrm>
          <a:prstGeom prst="roundRect">
            <a:avLst>
              <a:gd name="adj" fmla="val 16667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rowtag_274"/>
          <p:cNvSpPr txBox="1"/>
          <p:nvPr/>
        </p:nvSpPr>
        <p:spPr>
          <a:xfrm>
            <a:off x="640080" y="51846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300" dirty="0"/>
          </a:p>
        </p:txBody>
      </p:sp>
      <p:sp>
        <p:nvSpPr>
          <p:cNvPr id="26" name="rowdesc_275"/>
          <p:cNvSpPr txBox="1"/>
          <p:nvPr/>
        </p:nvSpPr>
        <p:spPr>
          <a:xfrm>
            <a:off x="2240280" y="5184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Campo obrigatório: o navegador bloqueia o envio se estiver vazio.</a:t>
            </a:r>
            <a:endParaRPr lang="en-US" sz="1400" dirty="0"/>
          </a:p>
        </p:txBody>
      </p:sp>
      <p:sp>
        <p:nvSpPr>
          <p:cNvPr id="27" name="brw_276"/>
          <p:cNvSpPr/>
          <p:nvPr/>
        </p:nvSpPr>
        <p:spPr>
          <a:xfrm>
            <a:off x="6583680" y="1371600"/>
            <a:ext cx="5120640" cy="4937760"/>
          </a:xfrm>
          <a:prstGeom prst="roundRect">
            <a:avLst>
              <a:gd name="adj" fmla="val 2593"/>
            </a:avLst>
          </a:prstGeom>
          <a:solidFill>
            <a:srgbClr val="0D1233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brwbar_277"/>
          <p:cNvSpPr/>
          <p:nvPr/>
        </p:nvSpPr>
        <p:spPr>
          <a:xfrm>
            <a:off x="6583680" y="1371600"/>
            <a:ext cx="5120640" cy="438912"/>
          </a:xfrm>
          <a:prstGeom prst="roundRect">
            <a:avLst>
              <a:gd name="adj" fmla="val 29167"/>
            </a:avLst>
          </a:prstGeom>
          <a:solidFill>
            <a:srgbClr val="161C42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9" name="bdot_278"/>
          <p:cNvSpPr/>
          <p:nvPr/>
        </p:nvSpPr>
        <p:spPr>
          <a:xfrm>
            <a:off x="6766560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bdot_279"/>
          <p:cNvSpPr/>
          <p:nvPr/>
        </p:nvSpPr>
        <p:spPr>
          <a:xfrm>
            <a:off x="694944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bdot_280"/>
          <p:cNvSpPr/>
          <p:nvPr/>
        </p:nvSpPr>
        <p:spPr>
          <a:xfrm>
            <a:off x="7132320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url_281"/>
          <p:cNvSpPr/>
          <p:nvPr/>
        </p:nvSpPr>
        <p:spPr>
          <a:xfrm>
            <a:off x="7452360" y="146304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D1233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technews.html</a:t>
            </a:r>
            <a:endParaRPr lang="en-US" sz="1000" dirty="0"/>
          </a:p>
        </p:txBody>
      </p:sp>
      <p:sp>
        <p:nvSpPr>
          <p:cNvPr id="33" name="box_282"/>
          <p:cNvSpPr/>
          <p:nvPr/>
        </p:nvSpPr>
        <p:spPr>
          <a:xfrm>
            <a:off x="7360920" y="2011680"/>
            <a:ext cx="3566160" cy="4114800"/>
          </a:xfrm>
          <a:prstGeom prst="roundRect">
            <a:avLst>
              <a:gd name="adj" fmla="val 5128"/>
            </a:avLst>
          </a:prstGeom>
          <a:solidFill>
            <a:srgbClr val="7366F0"/>
          </a:solidFill>
          <a:ln w="12700">
            <a:solidFill>
              <a:srgbClr val="8B7CF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lbl_283"/>
          <p:cNvSpPr txBox="1"/>
          <p:nvPr/>
        </p:nvSpPr>
        <p:spPr>
          <a:xfrm>
            <a:off x="763524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📧 Newsletter</a:t>
            </a:r>
            <a:endParaRPr lang="en-US" sz="2000" dirty="0"/>
          </a:p>
        </p:txBody>
      </p:sp>
      <p:sp>
        <p:nvSpPr>
          <p:cNvPr id="35" name="lbl_284"/>
          <p:cNvSpPr txBox="1"/>
          <p:nvPr/>
        </p:nvSpPr>
        <p:spPr>
          <a:xfrm>
            <a:off x="7635240" y="5532120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 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subscribe.php</a:t>
            </a:r>
            <a:endParaRPr lang="en-US" sz="1300" dirty="0"/>
          </a:p>
        </p:txBody>
      </p:sp>
      <p:sp>
        <p:nvSpPr>
          <p:cNvPr id="36" name="lbl_285"/>
          <p:cNvSpPr txBox="1"/>
          <p:nvPr/>
        </p:nvSpPr>
        <p:spPr>
          <a:xfrm>
            <a:off x="763524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Email:</a:t>
            </a:r>
            <a:endParaRPr lang="en-US" sz="1600" dirty="0"/>
          </a:p>
        </p:txBody>
      </p:sp>
      <p:sp>
        <p:nvSpPr>
          <p:cNvPr id="37" name="box_286"/>
          <p:cNvSpPr/>
          <p:nvPr/>
        </p:nvSpPr>
        <p:spPr>
          <a:xfrm>
            <a:off x="7635240" y="31546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8F86F7"/>
          </a:solidFill>
          <a:ln w="12700">
            <a:solidFill>
              <a:srgbClr val="C7C2FB"/>
            </a:solidFill>
            <a:prstDash val="solid"/>
          </a:ln>
        </p:spPr>
      </p:sp>
      <p:sp>
        <p:nvSpPr>
          <p:cNvPr id="38" name="lbl_287"/>
          <p:cNvSpPr txBox="1"/>
          <p:nvPr/>
        </p:nvSpPr>
        <p:spPr>
          <a:xfrm>
            <a:off x="777240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DDFE"/>
                </a:solidFill>
              </a:rPr>
              <a:t>voce@email.com</a:t>
            </a:r>
            <a:endParaRPr lang="en-US" sz="1400" dirty="0"/>
          </a:p>
        </p:txBody>
      </p:sp>
      <p:sp>
        <p:nvSpPr>
          <p:cNvPr id="39" name="lbl_288"/>
          <p:cNvSpPr txBox="1"/>
          <p:nvPr/>
        </p:nvSpPr>
        <p:spPr>
          <a:xfrm>
            <a:off x="7635240" y="379476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 wrap="square" lIns="127000" tIns="0" rIns="1270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! 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Preencha este campo.</a:t>
            </a:r>
            <a:endParaRPr lang="en-US" sz="1500" dirty="0"/>
          </a:p>
        </p:txBody>
      </p:sp>
      <p:sp>
        <p:nvSpPr>
          <p:cNvPr id="40" name="lbl_289"/>
          <p:cNvSpPr txBox="1"/>
          <p:nvPr/>
        </p:nvSpPr>
        <p:spPr>
          <a:xfrm>
            <a:off x="763524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mensagem automática do navegador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6" grpId="0" animBg="1"/>
      <p:bldP spid="17" grpId="0" animBg="1"/>
      <p:bldP spid="33" grpId="0" animBg="1"/>
      <p:bldP spid="34" grpId="0" animBg="1"/>
      <p:bldP spid="35" grpId="0" animBg="1"/>
      <p:bldP spid="11" grpId="0" animBg="1"/>
      <p:bldP spid="18" grpId="0" animBg="1"/>
      <p:bldP spid="19" grpId="0" animBg="1"/>
      <p:bldP spid="20" grpId="0" animBg="1"/>
      <p:bldP spid="36" grpId="0" animBg="1"/>
      <p:bldP spid="12" grpId="0" animBg="1"/>
      <p:bldP spid="21" grpId="0" animBg="1"/>
      <p:bldP spid="22" grpId="0" animBg="1"/>
      <p:bldP spid="23" grpId="0" animBg="1"/>
      <p:bldP spid="37" grpId="0" animBg="1"/>
      <p:bldP spid="38" grpId="0" animBg="1"/>
      <p:bldP spid="13" grpId="0" animBg="1"/>
      <p:bldP spid="24" grpId="0" animBg="1"/>
      <p:bldP spid="25" grpId="0" animBg="1"/>
      <p:bldP spid="26" grpId="0" animBg="1"/>
      <p:bldP spid="39" grpId="0" animBg="1"/>
      <p:bldP spid="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</a:rPr>
              <a:t>RESULTADO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Cada tag no site pronto</a:t>
            </a:r>
            <a:endParaRPr lang="en-US" sz="3400" dirty="0"/>
          </a:p>
        </p:txBody>
      </p:sp>
      <p:pic>
        <p:nvPicPr>
          <p:cNvPr id="5" name="site_577" descr="sit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49440" cy="486131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6" name="lbl_578"/>
          <p:cNvSpPr txBox="1"/>
          <p:nvPr/>
        </p:nvSpPr>
        <p:spPr>
          <a:xfrm>
            <a:off x="78638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Clique para revelar</a:t>
            </a:r>
            <a:endParaRPr lang="en-US" sz="1600" dirty="0"/>
          </a:p>
        </p:txBody>
      </p:sp>
      <p:sp>
        <p:nvSpPr>
          <p:cNvPr id="7" name="chip_579"/>
          <p:cNvSpPr/>
          <p:nvPr/>
        </p:nvSpPr>
        <p:spPr>
          <a:xfrm>
            <a:off x="5265320" y="1481502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A855F7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8" name="box_580"/>
          <p:cNvSpPr/>
          <p:nvPr/>
        </p:nvSpPr>
        <p:spPr>
          <a:xfrm>
            <a:off x="7863840" y="192024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lbl_581"/>
          <p:cNvSpPr txBox="1"/>
          <p:nvPr/>
        </p:nvSpPr>
        <p:spPr>
          <a:xfrm>
            <a:off x="8001000" y="19202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 </a:t>
            </a:r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logo e slogan no topo</a:t>
            </a:r>
            <a:endParaRPr lang="en-US" sz="1400" dirty="0"/>
          </a:p>
        </p:txBody>
      </p:sp>
      <p:sp>
        <p:nvSpPr>
          <p:cNvPr id="10" name="chip_582"/>
          <p:cNvSpPr/>
          <p:nvPr/>
        </p:nvSpPr>
        <p:spPr>
          <a:xfrm>
            <a:off x="4789080" y="2397348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60A5FA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200" dirty="0"/>
          </a:p>
        </p:txBody>
      </p:sp>
      <p:sp>
        <p:nvSpPr>
          <p:cNvPr id="11" name="box_583"/>
          <p:cNvSpPr/>
          <p:nvPr/>
        </p:nvSpPr>
        <p:spPr>
          <a:xfrm>
            <a:off x="7863840" y="260604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lbl_584"/>
          <p:cNvSpPr txBox="1"/>
          <p:nvPr/>
        </p:nvSpPr>
        <p:spPr>
          <a:xfrm>
            <a:off x="8001000" y="26060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  </a:t>
            </a:r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a notícia em destaque</a:t>
            </a:r>
            <a:endParaRPr lang="en-US" sz="1400" dirty="0"/>
          </a:p>
        </p:txBody>
      </p:sp>
      <p:sp>
        <p:nvSpPr>
          <p:cNvPr id="13" name="chip_585"/>
          <p:cNvSpPr/>
          <p:nvPr/>
        </p:nvSpPr>
        <p:spPr>
          <a:xfrm>
            <a:off x="2847486" y="30384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&lt;details&gt;</a:t>
            </a:r>
            <a:endParaRPr lang="en-US" sz="1200" dirty="0"/>
          </a:p>
        </p:txBody>
      </p:sp>
      <p:sp>
        <p:nvSpPr>
          <p:cNvPr id="14" name="box_586"/>
          <p:cNvSpPr/>
          <p:nvPr/>
        </p:nvSpPr>
        <p:spPr>
          <a:xfrm>
            <a:off x="7863840" y="329184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lbl_587"/>
          <p:cNvSpPr txBox="1"/>
          <p:nvPr/>
        </p:nvSpPr>
        <p:spPr>
          <a:xfrm>
            <a:off x="8001000" y="32918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&lt;details&gt;  </a:t>
            </a:r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o “Leia mais” recolhível</a:t>
            </a:r>
            <a:endParaRPr lang="en-US" sz="1400" dirty="0"/>
          </a:p>
        </p:txBody>
      </p:sp>
      <p:sp>
        <p:nvSpPr>
          <p:cNvPr id="16" name="chip_588"/>
          <p:cNvSpPr/>
          <p:nvPr/>
        </p:nvSpPr>
        <p:spPr>
          <a:xfrm>
            <a:off x="1711837" y="3935969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</a:t>
            </a:r>
            <a:endParaRPr lang="en-US" sz="1200" dirty="0"/>
          </a:p>
        </p:txBody>
      </p:sp>
      <p:sp>
        <p:nvSpPr>
          <p:cNvPr id="17" name="box_589"/>
          <p:cNvSpPr/>
          <p:nvPr/>
        </p:nvSpPr>
        <p:spPr>
          <a:xfrm>
            <a:off x="7863840" y="397764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lbl_590"/>
          <p:cNvSpPr txBox="1"/>
          <p:nvPr/>
        </p:nvSpPr>
        <p:spPr>
          <a:xfrm>
            <a:off x="8001000" y="39776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  </a:t>
            </a:r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o vídeo do YouTube</a:t>
            </a:r>
            <a:endParaRPr lang="en-US" sz="1400" dirty="0"/>
          </a:p>
        </p:txBody>
      </p:sp>
      <p:sp>
        <p:nvSpPr>
          <p:cNvPr id="19" name="chip_591"/>
          <p:cNvSpPr/>
          <p:nvPr/>
        </p:nvSpPr>
        <p:spPr>
          <a:xfrm>
            <a:off x="5924729" y="5034984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</p:txBody>
      </p:sp>
      <p:sp>
        <p:nvSpPr>
          <p:cNvPr id="20" name="box_592"/>
          <p:cNvSpPr/>
          <p:nvPr/>
        </p:nvSpPr>
        <p:spPr>
          <a:xfrm>
            <a:off x="7863840" y="466344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lbl_593"/>
          <p:cNvSpPr txBox="1"/>
          <p:nvPr/>
        </p:nvSpPr>
        <p:spPr>
          <a:xfrm>
            <a:off x="8001000" y="46634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  </a:t>
            </a:r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a newsletter</a:t>
            </a:r>
            <a:endParaRPr lang="en-US" sz="1400" dirty="0"/>
          </a:p>
        </p:txBody>
      </p:sp>
      <p:sp>
        <p:nvSpPr>
          <p:cNvPr id="22" name="chip_594"/>
          <p:cNvSpPr/>
          <p:nvPr/>
        </p:nvSpPr>
        <p:spPr>
          <a:xfrm>
            <a:off x="5045517" y="5767661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23" name="box_595"/>
          <p:cNvSpPr/>
          <p:nvPr/>
        </p:nvSpPr>
        <p:spPr>
          <a:xfrm>
            <a:off x="7863840" y="534924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lbl_596"/>
          <p:cNvSpPr txBox="1"/>
          <p:nvPr/>
        </p:nvSpPr>
        <p:spPr>
          <a:xfrm>
            <a:off x="8001000" y="53492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  </a:t>
            </a:r>
            <a:pPr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direitos e contato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55F7"/>
                </a:solidFill>
              </a:rPr>
              <a:t>RESUMO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Todas as tags do TechNews Today</a:t>
            </a:r>
            <a:endParaRPr lang="en-US" sz="3400" dirty="0"/>
          </a:p>
        </p:txBody>
      </p:sp>
      <p:sp>
        <p:nvSpPr>
          <p:cNvPr id="5" name="box_597"/>
          <p:cNvSpPr/>
          <p:nvPr/>
        </p:nvSpPr>
        <p:spPr>
          <a:xfrm>
            <a:off x="502920" y="14630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1E293B">
              <a:alpha val="8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lbl_598"/>
          <p:cNvSpPr txBox="1"/>
          <p:nvPr/>
        </p:nvSpPr>
        <p:spPr>
          <a:xfrm>
            <a:off x="68580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Documento</a:t>
            </a:r>
            <a:endParaRPr lang="en-US" sz="1800" dirty="0"/>
          </a:p>
        </p:txBody>
      </p:sp>
      <p:sp>
        <p:nvSpPr>
          <p:cNvPr id="7" name="chip_599"/>
          <p:cNvSpPr/>
          <p:nvPr/>
        </p:nvSpPr>
        <p:spPr>
          <a:xfrm>
            <a:off x="685800" y="21945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4748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&lt;!DOCTYPE&gt;</a:t>
            </a:r>
            <a:endParaRPr lang="en-US" sz="1200" dirty="0"/>
          </a:p>
        </p:txBody>
      </p:sp>
      <p:sp>
        <p:nvSpPr>
          <p:cNvPr id="8" name="chip_600"/>
          <p:cNvSpPr/>
          <p:nvPr/>
        </p:nvSpPr>
        <p:spPr>
          <a:xfrm>
            <a:off x="685800" y="263347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4748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00" dirty="0"/>
          </a:p>
        </p:txBody>
      </p:sp>
      <p:sp>
        <p:nvSpPr>
          <p:cNvPr id="9" name="chip_601"/>
          <p:cNvSpPr/>
          <p:nvPr/>
        </p:nvSpPr>
        <p:spPr>
          <a:xfrm>
            <a:off x="685800" y="307238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4748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</p:txBody>
      </p:sp>
      <p:sp>
        <p:nvSpPr>
          <p:cNvPr id="10" name="chip_602"/>
          <p:cNvSpPr/>
          <p:nvPr/>
        </p:nvSpPr>
        <p:spPr>
          <a:xfrm>
            <a:off x="685800" y="3511296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4748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&lt;meta&gt;</a:t>
            </a:r>
            <a:endParaRPr lang="en-US" sz="1200" dirty="0"/>
          </a:p>
        </p:txBody>
      </p:sp>
      <p:sp>
        <p:nvSpPr>
          <p:cNvPr id="11" name="chip_603"/>
          <p:cNvSpPr/>
          <p:nvPr/>
        </p:nvSpPr>
        <p:spPr>
          <a:xfrm>
            <a:off x="685800" y="395020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4748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200" dirty="0"/>
          </a:p>
        </p:txBody>
      </p:sp>
      <p:sp>
        <p:nvSpPr>
          <p:cNvPr id="12" name="chip_604"/>
          <p:cNvSpPr/>
          <p:nvPr/>
        </p:nvSpPr>
        <p:spPr>
          <a:xfrm>
            <a:off x="685800" y="43891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4748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&lt;link&gt;</a:t>
            </a:r>
            <a:endParaRPr lang="en-US" sz="1200" dirty="0"/>
          </a:p>
        </p:txBody>
      </p:sp>
      <p:sp>
        <p:nvSpPr>
          <p:cNvPr id="13" name="chip_605"/>
          <p:cNvSpPr/>
          <p:nvPr/>
        </p:nvSpPr>
        <p:spPr>
          <a:xfrm>
            <a:off x="685800" y="482803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4748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14" name="box_606"/>
          <p:cNvSpPr/>
          <p:nvPr/>
        </p:nvSpPr>
        <p:spPr>
          <a:xfrm>
            <a:off x="2761488" y="14630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1E293B">
              <a:alpha val="8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lbl_607"/>
          <p:cNvSpPr txBox="1"/>
          <p:nvPr/>
        </p:nvSpPr>
        <p:spPr>
          <a:xfrm>
            <a:off x="2944368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Estrutura</a:t>
            </a:r>
            <a:endParaRPr lang="en-US" sz="1800" dirty="0"/>
          </a:p>
        </p:txBody>
      </p:sp>
      <p:sp>
        <p:nvSpPr>
          <p:cNvPr id="16" name="chip_608"/>
          <p:cNvSpPr/>
          <p:nvPr/>
        </p:nvSpPr>
        <p:spPr>
          <a:xfrm>
            <a:off x="2944368" y="21945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A855F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7" name="chip_609"/>
          <p:cNvSpPr/>
          <p:nvPr/>
        </p:nvSpPr>
        <p:spPr>
          <a:xfrm>
            <a:off x="2944368" y="263347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A855F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8" name="chip_610"/>
          <p:cNvSpPr/>
          <p:nvPr/>
        </p:nvSpPr>
        <p:spPr>
          <a:xfrm>
            <a:off x="2944368" y="307238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A855F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200" dirty="0"/>
          </a:p>
        </p:txBody>
      </p:sp>
      <p:sp>
        <p:nvSpPr>
          <p:cNvPr id="19" name="chip_611"/>
          <p:cNvSpPr/>
          <p:nvPr/>
        </p:nvSpPr>
        <p:spPr>
          <a:xfrm>
            <a:off x="2944368" y="3511296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A855F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200" dirty="0"/>
          </a:p>
        </p:txBody>
      </p:sp>
      <p:sp>
        <p:nvSpPr>
          <p:cNvPr id="20" name="chip_612"/>
          <p:cNvSpPr/>
          <p:nvPr/>
        </p:nvSpPr>
        <p:spPr>
          <a:xfrm>
            <a:off x="2944368" y="395020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A855F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21" name="chip_613"/>
          <p:cNvSpPr/>
          <p:nvPr/>
        </p:nvSpPr>
        <p:spPr>
          <a:xfrm>
            <a:off x="2944368" y="43891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A855F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00" dirty="0"/>
          </a:p>
        </p:txBody>
      </p:sp>
      <p:sp>
        <p:nvSpPr>
          <p:cNvPr id="22" name="box_614"/>
          <p:cNvSpPr/>
          <p:nvPr/>
        </p:nvSpPr>
        <p:spPr>
          <a:xfrm>
            <a:off x="5020056" y="14630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1E293B">
              <a:alpha val="8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lbl_615"/>
          <p:cNvSpPr txBox="1"/>
          <p:nvPr/>
        </p:nvSpPr>
        <p:spPr>
          <a:xfrm>
            <a:off x="5202936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Texto</a:t>
            </a:r>
            <a:endParaRPr lang="en-US" sz="1800" dirty="0"/>
          </a:p>
        </p:txBody>
      </p:sp>
      <p:sp>
        <p:nvSpPr>
          <p:cNvPr id="24" name="chip_616"/>
          <p:cNvSpPr/>
          <p:nvPr/>
        </p:nvSpPr>
        <p:spPr>
          <a:xfrm>
            <a:off x="5202936" y="21945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0A5FA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&lt;h2&gt; &lt;h3&gt;</a:t>
            </a:r>
            <a:endParaRPr lang="en-US" sz="1200" dirty="0"/>
          </a:p>
        </p:txBody>
      </p:sp>
      <p:sp>
        <p:nvSpPr>
          <p:cNvPr id="25" name="chip_617"/>
          <p:cNvSpPr/>
          <p:nvPr/>
        </p:nvSpPr>
        <p:spPr>
          <a:xfrm>
            <a:off x="5202936" y="263347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0A5FA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200" dirty="0"/>
          </a:p>
        </p:txBody>
      </p:sp>
      <p:sp>
        <p:nvSpPr>
          <p:cNvPr id="26" name="chip_618"/>
          <p:cNvSpPr/>
          <p:nvPr/>
        </p:nvSpPr>
        <p:spPr>
          <a:xfrm>
            <a:off x="5202936" y="307238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0A5FA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200" dirty="0"/>
          </a:p>
        </p:txBody>
      </p:sp>
      <p:sp>
        <p:nvSpPr>
          <p:cNvPr id="27" name="chip_619"/>
          <p:cNvSpPr/>
          <p:nvPr/>
        </p:nvSpPr>
        <p:spPr>
          <a:xfrm>
            <a:off x="5202936" y="3511296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0A5FA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200" dirty="0"/>
          </a:p>
        </p:txBody>
      </p:sp>
      <p:sp>
        <p:nvSpPr>
          <p:cNvPr id="28" name="chip_620"/>
          <p:cNvSpPr/>
          <p:nvPr/>
        </p:nvSpPr>
        <p:spPr>
          <a:xfrm>
            <a:off x="5202936" y="395020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0A5FA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&lt;time&gt;</a:t>
            </a:r>
            <a:endParaRPr lang="en-US" sz="1200" dirty="0"/>
          </a:p>
        </p:txBody>
      </p:sp>
      <p:sp>
        <p:nvSpPr>
          <p:cNvPr id="29" name="chip_621"/>
          <p:cNvSpPr/>
          <p:nvPr/>
        </p:nvSpPr>
        <p:spPr>
          <a:xfrm>
            <a:off x="5202936" y="43891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60A5FA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&lt;address&gt;</a:t>
            </a:r>
            <a:endParaRPr lang="en-US" sz="1200" dirty="0"/>
          </a:p>
        </p:txBody>
      </p:sp>
      <p:sp>
        <p:nvSpPr>
          <p:cNvPr id="30" name="box_622"/>
          <p:cNvSpPr/>
          <p:nvPr/>
        </p:nvSpPr>
        <p:spPr>
          <a:xfrm>
            <a:off x="7278624" y="14630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1E293B">
              <a:alpha val="8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lbl_623"/>
          <p:cNvSpPr txBox="1"/>
          <p:nvPr/>
        </p:nvSpPr>
        <p:spPr>
          <a:xfrm>
            <a:off x="7461504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2777"/>
                </a:solidFill>
              </a:rPr>
              <a:t>Interação</a:t>
            </a:r>
            <a:endParaRPr lang="en-US" sz="1800" dirty="0"/>
          </a:p>
        </p:txBody>
      </p:sp>
      <p:sp>
        <p:nvSpPr>
          <p:cNvPr id="32" name="chip_624"/>
          <p:cNvSpPr/>
          <p:nvPr/>
        </p:nvSpPr>
        <p:spPr>
          <a:xfrm>
            <a:off x="7461504" y="21945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DB277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&lt;details&gt;</a:t>
            </a:r>
            <a:endParaRPr lang="en-US" sz="1200" dirty="0"/>
          </a:p>
        </p:txBody>
      </p:sp>
      <p:sp>
        <p:nvSpPr>
          <p:cNvPr id="33" name="chip_625"/>
          <p:cNvSpPr/>
          <p:nvPr/>
        </p:nvSpPr>
        <p:spPr>
          <a:xfrm>
            <a:off x="7461504" y="263347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DB277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&lt;summary&gt;</a:t>
            </a:r>
            <a:endParaRPr lang="en-US" sz="1200" dirty="0"/>
          </a:p>
        </p:txBody>
      </p:sp>
      <p:sp>
        <p:nvSpPr>
          <p:cNvPr id="34" name="chip_626"/>
          <p:cNvSpPr/>
          <p:nvPr/>
        </p:nvSpPr>
        <p:spPr>
          <a:xfrm>
            <a:off x="7461504" y="307238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DB277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</a:t>
            </a:r>
            <a:endParaRPr lang="en-US" sz="1200" dirty="0"/>
          </a:p>
        </p:txBody>
      </p:sp>
      <p:sp>
        <p:nvSpPr>
          <p:cNvPr id="35" name="chip_627"/>
          <p:cNvSpPr/>
          <p:nvPr/>
        </p:nvSpPr>
        <p:spPr>
          <a:xfrm>
            <a:off x="7461504" y="3511296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DB2777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href&gt;</a:t>
            </a:r>
            <a:endParaRPr lang="en-US" sz="1200" dirty="0"/>
          </a:p>
        </p:txBody>
      </p:sp>
      <p:sp>
        <p:nvSpPr>
          <p:cNvPr id="36" name="box_628"/>
          <p:cNvSpPr/>
          <p:nvPr/>
        </p:nvSpPr>
        <p:spPr>
          <a:xfrm>
            <a:off x="9537192" y="14630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1E293B">
              <a:alpha val="8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lbl_629"/>
          <p:cNvSpPr txBox="1"/>
          <p:nvPr/>
        </p:nvSpPr>
        <p:spPr>
          <a:xfrm>
            <a:off x="9720072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Formulário</a:t>
            </a:r>
            <a:endParaRPr lang="en-US" sz="1800" dirty="0"/>
          </a:p>
        </p:txBody>
      </p:sp>
      <p:sp>
        <p:nvSpPr>
          <p:cNvPr id="38" name="chip_630"/>
          <p:cNvSpPr/>
          <p:nvPr/>
        </p:nvSpPr>
        <p:spPr>
          <a:xfrm>
            <a:off x="9720072" y="21945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F59E0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</p:txBody>
      </p:sp>
      <p:sp>
        <p:nvSpPr>
          <p:cNvPr id="39" name="chip_631"/>
          <p:cNvSpPr/>
          <p:nvPr/>
        </p:nvSpPr>
        <p:spPr>
          <a:xfrm>
            <a:off x="9720072" y="263347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F59E0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1200" dirty="0"/>
          </a:p>
        </p:txBody>
      </p:sp>
      <p:sp>
        <p:nvSpPr>
          <p:cNvPr id="40" name="chip_632"/>
          <p:cNvSpPr/>
          <p:nvPr/>
        </p:nvSpPr>
        <p:spPr>
          <a:xfrm>
            <a:off x="9720072" y="307238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F59E0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200" dirty="0"/>
          </a:p>
        </p:txBody>
      </p:sp>
      <p:sp>
        <p:nvSpPr>
          <p:cNvPr id="41" name="chip_633"/>
          <p:cNvSpPr/>
          <p:nvPr/>
        </p:nvSpPr>
        <p:spPr>
          <a:xfrm>
            <a:off x="9720072" y="3511296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F59E0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1200" dirty="0"/>
          </a:p>
        </p:txBody>
      </p:sp>
      <p:sp>
        <p:nvSpPr>
          <p:cNvPr id="42" name="chip_634"/>
          <p:cNvSpPr/>
          <p:nvPr/>
        </p:nvSpPr>
        <p:spPr>
          <a:xfrm>
            <a:off x="9720072" y="395020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F59E0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&lt;option&gt;</a:t>
            </a:r>
            <a:endParaRPr lang="en-US" sz="1200" dirty="0"/>
          </a:p>
        </p:txBody>
      </p:sp>
      <p:sp>
        <p:nvSpPr>
          <p:cNvPr id="43" name="chip_635"/>
          <p:cNvSpPr/>
          <p:nvPr/>
        </p:nvSpPr>
        <p:spPr>
          <a:xfrm>
            <a:off x="9720072" y="43891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1233"/>
          </a:solidFill>
          <a:ln w="12700">
            <a:solidFill>
              <a:srgbClr val="F59E0B"/>
            </a:solidFill>
          </a:ln>
        </p:spPr>
        <p:txBody>
          <a:bodyPr wrap="square" lIns="101600" tIns="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44" name="lbl_636"/>
          <p:cNvSpPr txBox="1"/>
          <p:nvPr/>
        </p:nvSpPr>
        <p:spPr>
          <a:xfrm>
            <a:off x="502920" y="5669280"/>
            <a:ext cx="11155680" cy="502920"/>
          </a:xfrm>
          <a:prstGeom prst="roundRect">
            <a:avLst>
              <a:gd name="adj" fmla="val 18182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Agora é com você: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escreva o CSS do desafio em até 50 linhas e compare com os prints.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1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96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1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740"/>
                            </p:stCondLst>
                            <p:childTnLst>
                              <p:par>
                                <p:cTn id="1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theme/theme1.xml><?xml version="1.0" encoding="utf-8"?>
<a:theme xmlns:a="http://schemas.openxmlformats.org/drawingml/2006/main" name="TechNews Dark">
  <a:themeElements>
    <a:clrScheme name="TechNews Dark">
      <a:dk1>
        <a:srgbClr val="0A0E27"/>
      </a:dk1>
      <a:lt1>
        <a:srgbClr val="E4E4E7"/>
      </a:lt1>
      <a:dk2>
        <a:srgbClr val="1E293B"/>
      </a:dk2>
      <a:lt2>
        <a:srgbClr val="94A3B8"/>
      </a:lt2>
      <a:accent1>
        <a:srgbClr val="6366F1"/>
      </a:accent1>
      <a:accent2>
        <a:srgbClr val="DB2777"/>
      </a:accent2>
      <a:accent3>
        <a:srgbClr val="A855F7"/>
      </a:accent3>
      <a:accent4>
        <a:srgbClr val="F59E0B"/>
      </a:accent4>
      <a:accent5>
        <a:srgbClr val="60A5FA"/>
      </a:accent5>
      <a:accent6>
        <a:srgbClr val="34D399"/>
      </a:accent6>
      <a:hlink>
        <a:srgbClr val="60A5FA"/>
      </a:hlink>
      <a:folHlink>
        <a:srgbClr val="A855F7"/>
      </a:folHlink>
    </a:clrScheme>
    <a:fontScheme name="TechNews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TechNews Today: HTML semântico e CSS moderno</dc:title>
  <dc:subject>PptxGenJS Presentation</dc:subject>
  <dc:creator>Professor DEV</dc:creator>
  <cp:lastModifiedBy>Professor DEV</cp:lastModifiedBy>
  <cp:revision>1</cp:revision>
  <dcterms:created xsi:type="dcterms:W3CDTF">2026-10-03T18:39:19Z</dcterms:created>
  <dcterms:modified xsi:type="dcterms:W3CDTF">2026-10-03T18:39:19Z</dcterms:modified>
</cp:coreProperties>
</file>